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d8ad7d999b4e32" /><Relationship Type="http://schemas.openxmlformats.org/officeDocument/2006/relationships/extended-properties" Target="/docProps/app.xml" Id="R8ec98cce69cd43b3" /><Relationship Type="http://schemas.openxmlformats.org/officeDocument/2006/relationships/officeDocument" Target="/ppt/presentation.xml" Id="Rbb87876d8ad542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858e10a7b0453b"/>
  </p:sldMasterIdLst>
  <p:notesMasterIdLst>
    <p:notesMasterId xmlns:r="http://schemas.openxmlformats.org/officeDocument/2006/relationships" r:id="Rcecb2503dc3f479d"/>
  </p:notesMasterIdLst>
  <p:sldIdLst>
    <p:sldId xmlns:r="http://schemas.openxmlformats.org/officeDocument/2006/relationships" id="256" r:id="R142a7e563050482e"/>
    <p:sldId xmlns:r="http://schemas.openxmlformats.org/officeDocument/2006/relationships" id="257" r:id="R8ead4e99a571474b"/>
    <p:sldId xmlns:r="http://schemas.openxmlformats.org/officeDocument/2006/relationships" id="258" r:id="R5b46d2b34911460c"/>
    <p:sldId xmlns:r="http://schemas.openxmlformats.org/officeDocument/2006/relationships" id="259" r:id="Rbdc29df081764169"/>
    <p:sldId xmlns:r="http://schemas.openxmlformats.org/officeDocument/2006/relationships" id="260" r:id="R9c185ee7492d4ce7"/>
    <p:sldId xmlns:r="http://schemas.openxmlformats.org/officeDocument/2006/relationships" id="261" r:id="Re440c6d7e24c46f0"/>
    <p:sldId xmlns:r="http://schemas.openxmlformats.org/officeDocument/2006/relationships" id="262" r:id="Re9983a871ca84449"/>
    <p:sldId xmlns:r="http://schemas.openxmlformats.org/officeDocument/2006/relationships" id="263" r:id="R69708e67efb44261"/>
    <p:sldId xmlns:r="http://schemas.openxmlformats.org/officeDocument/2006/relationships" id="264" r:id="R2db51c4ee1b64350"/>
    <p:sldId xmlns:r="http://schemas.openxmlformats.org/officeDocument/2006/relationships" id="265" r:id="Rf85777443318461f"/>
    <p:sldId xmlns:r="http://schemas.openxmlformats.org/officeDocument/2006/relationships" id="266" r:id="R30b005335f724e98"/>
    <p:sldId xmlns:r="http://schemas.openxmlformats.org/officeDocument/2006/relationships" id="267" r:id="Rd93c19368b1140b6"/>
    <p:sldId xmlns:r="http://schemas.openxmlformats.org/officeDocument/2006/relationships" id="268" r:id="R5fb319aa5d16487a"/>
    <p:sldId xmlns:r="http://schemas.openxmlformats.org/officeDocument/2006/relationships" id="269" r:id="R5bd2f36055394319"/>
    <p:sldId xmlns:r="http://schemas.openxmlformats.org/officeDocument/2006/relationships" id="270" r:id="R5ce33e1b92684aa1"/>
    <p:sldId xmlns:r="http://schemas.openxmlformats.org/officeDocument/2006/relationships" id="271" r:id="Rc561d0abaa75415f"/>
    <p:sldId xmlns:r="http://schemas.openxmlformats.org/officeDocument/2006/relationships" id="272" r:id="Rcfecd3a6823849bd"/>
    <p:sldId xmlns:r="http://schemas.openxmlformats.org/officeDocument/2006/relationships" id="273" r:id="Rf435b40d41ef4a53"/>
    <p:sldId xmlns:r="http://schemas.openxmlformats.org/officeDocument/2006/relationships" id="274" r:id="Rf99a94f119b94884"/>
    <p:sldId xmlns:r="http://schemas.openxmlformats.org/officeDocument/2006/relationships" id="275" r:id="R2959aeed14124372"/>
    <p:sldId xmlns:r="http://schemas.openxmlformats.org/officeDocument/2006/relationships" id="276" r:id="R3902e05c354746be"/>
    <p:sldId xmlns:r="http://schemas.openxmlformats.org/officeDocument/2006/relationships" id="277" r:id="Rd24e32cbdf3b4e08"/>
    <p:sldId xmlns:r="http://schemas.openxmlformats.org/officeDocument/2006/relationships" id="278" r:id="R7fb3e724f5a04d01"/>
    <p:sldId xmlns:r="http://schemas.openxmlformats.org/officeDocument/2006/relationships" id="279" r:id="R5fa947efcfb3478e"/>
    <p:sldId xmlns:r="http://schemas.openxmlformats.org/officeDocument/2006/relationships" id="280" r:id="R00f2d7ac21c74e7a"/>
    <p:sldId xmlns:r="http://schemas.openxmlformats.org/officeDocument/2006/relationships" id="281" r:id="R423f4c96c5d141e1"/>
    <p:sldId xmlns:r="http://schemas.openxmlformats.org/officeDocument/2006/relationships" id="282" r:id="R803483d9afef4ede"/>
    <p:sldId xmlns:r="http://schemas.openxmlformats.org/officeDocument/2006/relationships" id="283" r:id="R33d119d31cef43bc"/>
    <p:sldId xmlns:r="http://schemas.openxmlformats.org/officeDocument/2006/relationships" id="284" r:id="R3181e784bc2843be"/>
    <p:sldId xmlns:r="http://schemas.openxmlformats.org/officeDocument/2006/relationships" id="285" r:id="R1287016f916e4f0b"/>
    <p:sldId xmlns:r="http://schemas.openxmlformats.org/officeDocument/2006/relationships" id="286" r:id="R909c6a820c7d4e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1081f9d61c467e" /><Relationship Type="http://schemas.openxmlformats.org/officeDocument/2006/relationships/slideMaster" Target="/ppt/slideMasters/slideMaster1.xml" Id="R84858e10a7b0453b" /><Relationship Type="http://schemas.openxmlformats.org/officeDocument/2006/relationships/notesMaster" Target="/ppt/notesMasters/notesMaster1.xml" Id="Rcecb2503dc3f479d" /><Relationship Type="http://schemas.openxmlformats.org/officeDocument/2006/relationships/presProps" Target="/ppt/presProps.xml" Id="R3b2dc9079c684ed7" /><Relationship Type="http://schemas.openxmlformats.org/officeDocument/2006/relationships/tableStyles" Target="/ppt/tableStyles.xml" Id="R051022dcfe354042" /><Relationship Type="http://schemas.openxmlformats.org/officeDocument/2006/relationships/slide" Target="/ppt/slides/slide1.xml" Id="R142a7e563050482e" /><Relationship Type="http://schemas.openxmlformats.org/officeDocument/2006/relationships/slide" Target="/ppt/slides/slide2.xml" Id="R8ead4e99a571474b" /><Relationship Type="http://schemas.openxmlformats.org/officeDocument/2006/relationships/slide" Target="/ppt/slides/slide3.xml" Id="R5b46d2b34911460c" /><Relationship Type="http://schemas.openxmlformats.org/officeDocument/2006/relationships/slide" Target="/ppt/slides/slide4.xml" Id="Rbdc29df081764169" /><Relationship Type="http://schemas.openxmlformats.org/officeDocument/2006/relationships/slide" Target="/ppt/slides/slide5.xml" Id="R9c185ee7492d4ce7" /><Relationship Type="http://schemas.openxmlformats.org/officeDocument/2006/relationships/slide" Target="/ppt/slides/slide6.xml" Id="Re440c6d7e24c46f0" /><Relationship Type="http://schemas.openxmlformats.org/officeDocument/2006/relationships/slide" Target="/ppt/slides/slide7.xml" Id="Re9983a871ca84449" /><Relationship Type="http://schemas.openxmlformats.org/officeDocument/2006/relationships/slide" Target="/ppt/slides/slide8.xml" Id="R69708e67efb44261" /><Relationship Type="http://schemas.openxmlformats.org/officeDocument/2006/relationships/slide" Target="/ppt/slides/slide9.xml" Id="R2db51c4ee1b64350" /><Relationship Type="http://schemas.openxmlformats.org/officeDocument/2006/relationships/slide" Target="/ppt/slides/slide10.xml" Id="Rf85777443318461f" /><Relationship Type="http://schemas.openxmlformats.org/officeDocument/2006/relationships/slide" Target="/ppt/slides/slide11.xml" Id="R30b005335f724e98" /><Relationship Type="http://schemas.openxmlformats.org/officeDocument/2006/relationships/slide" Target="/ppt/slides/slide12.xml" Id="Rd93c19368b1140b6" /><Relationship Type="http://schemas.openxmlformats.org/officeDocument/2006/relationships/slide" Target="/ppt/slides/slide13.xml" Id="R5fb319aa5d16487a" /><Relationship Type="http://schemas.openxmlformats.org/officeDocument/2006/relationships/slide" Target="/ppt/slides/slide14.xml" Id="R5bd2f36055394319" /><Relationship Type="http://schemas.openxmlformats.org/officeDocument/2006/relationships/slide" Target="/ppt/slides/slide15.xml" Id="R5ce33e1b92684aa1" /><Relationship Type="http://schemas.openxmlformats.org/officeDocument/2006/relationships/slide" Target="/ppt/slides/slide16.xml" Id="Rc561d0abaa75415f" /><Relationship Type="http://schemas.openxmlformats.org/officeDocument/2006/relationships/slide" Target="/ppt/slides/slide17.xml" Id="Rcfecd3a6823849bd" /><Relationship Type="http://schemas.openxmlformats.org/officeDocument/2006/relationships/slide" Target="/ppt/slides/slide18.xml" Id="Rf435b40d41ef4a53" /><Relationship Type="http://schemas.openxmlformats.org/officeDocument/2006/relationships/slide" Target="/ppt/slides/slide19.xml" Id="Rf99a94f119b94884" /><Relationship Type="http://schemas.openxmlformats.org/officeDocument/2006/relationships/slide" Target="/ppt/slides/slide20.xml" Id="R2959aeed14124372" /><Relationship Type="http://schemas.openxmlformats.org/officeDocument/2006/relationships/slide" Target="/ppt/slides/slide21.xml" Id="R3902e05c354746be" /><Relationship Type="http://schemas.openxmlformats.org/officeDocument/2006/relationships/slide" Target="/ppt/slides/slide22.xml" Id="Rd24e32cbdf3b4e08" /><Relationship Type="http://schemas.openxmlformats.org/officeDocument/2006/relationships/slide" Target="/ppt/slides/slide23.xml" Id="R7fb3e724f5a04d01" /><Relationship Type="http://schemas.openxmlformats.org/officeDocument/2006/relationships/slide" Target="/ppt/slides/slide24.xml" Id="R5fa947efcfb3478e" /><Relationship Type="http://schemas.openxmlformats.org/officeDocument/2006/relationships/slide" Target="/ppt/slides/slide25.xml" Id="R00f2d7ac21c74e7a" /><Relationship Type="http://schemas.openxmlformats.org/officeDocument/2006/relationships/slide" Target="/ppt/slides/slide26.xml" Id="R423f4c96c5d141e1" /><Relationship Type="http://schemas.openxmlformats.org/officeDocument/2006/relationships/slide" Target="/ppt/slides/slide27.xml" Id="R803483d9afef4ede" /><Relationship Type="http://schemas.openxmlformats.org/officeDocument/2006/relationships/slide" Target="/ppt/slides/slide28.xml" Id="R33d119d31cef43bc" /><Relationship Type="http://schemas.openxmlformats.org/officeDocument/2006/relationships/slide" Target="/ppt/slides/slide29.xml" Id="R3181e784bc2843be" /><Relationship Type="http://schemas.openxmlformats.org/officeDocument/2006/relationships/slide" Target="/ppt/slides/slide30.xml" Id="R1287016f916e4f0b" /><Relationship Type="http://schemas.openxmlformats.org/officeDocument/2006/relationships/slide" Target="/ppt/slides/slide31.xml" Id="R909c6a820c7d4e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b3b61d8e6e42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15edb1d5524b4d" /><Relationship Type="http://schemas.openxmlformats.org/officeDocument/2006/relationships/notesMaster" Target="/ppt/notesMasters/notesMaster1.xml" Id="R93d4c8505cff42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a72374ff2b4e21" /><Relationship Type="http://schemas.openxmlformats.org/officeDocument/2006/relationships/notesMaster" Target="/ppt/notesMasters/notesMaster1.xml" Id="Ra6f76ddd753043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91e945fb954308" /><Relationship Type="http://schemas.openxmlformats.org/officeDocument/2006/relationships/notesMaster" Target="/ppt/notesMasters/notesMaster1.xml" Id="Rcadfb21bd2e549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56bdf3897a4e73" /><Relationship Type="http://schemas.openxmlformats.org/officeDocument/2006/relationships/notesMaster" Target="/ppt/notesMasters/notesMaster1.xml" Id="Ra8c2990dfb134c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9a0e852d01402b" /><Relationship Type="http://schemas.openxmlformats.org/officeDocument/2006/relationships/notesMaster" Target="/ppt/notesMasters/notesMaster1.xml" Id="R17b31bb1b9854d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bacd6bde244c40" /><Relationship Type="http://schemas.openxmlformats.org/officeDocument/2006/relationships/notesMaster" Target="/ppt/notesMasters/notesMaster1.xml" Id="R2867313abd2e4a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710464427d4a38" /><Relationship Type="http://schemas.openxmlformats.org/officeDocument/2006/relationships/notesMaster" Target="/ppt/notesMasters/notesMaster1.xml" Id="R890dbf6f26d44f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a18a5285db4ab8" /><Relationship Type="http://schemas.openxmlformats.org/officeDocument/2006/relationships/notesMaster" Target="/ppt/notesMasters/notesMaster1.xml" Id="R84c1f26b334749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7c24d11cec4b47" /><Relationship Type="http://schemas.openxmlformats.org/officeDocument/2006/relationships/notesMaster" Target="/ppt/notesMasters/notesMaster1.xml" Id="R25eeea08825d42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2c2279657c4613" /><Relationship Type="http://schemas.openxmlformats.org/officeDocument/2006/relationships/notesMaster" Target="/ppt/notesMasters/notesMaster1.xml" Id="Rf22e512eed3f44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efc8f23daa44ea" /><Relationship Type="http://schemas.openxmlformats.org/officeDocument/2006/relationships/notesMaster" Target="/ppt/notesMasters/notesMaster1.xml" Id="R890bd55cd6cf43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e9cd977d2c47fa" /><Relationship Type="http://schemas.openxmlformats.org/officeDocument/2006/relationships/notesMaster" Target="/ppt/notesMasters/notesMaster1.xml" Id="Ref85e3a4e8174a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39193babb64257" /><Relationship Type="http://schemas.openxmlformats.org/officeDocument/2006/relationships/notesMaster" Target="/ppt/notesMasters/notesMaster1.xml" Id="R7604f43d3add4b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d5492df2a348f9" /><Relationship Type="http://schemas.openxmlformats.org/officeDocument/2006/relationships/notesMaster" Target="/ppt/notesMasters/notesMaster1.xml" Id="R5430b4ea955842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17a652b60a43bd" /><Relationship Type="http://schemas.openxmlformats.org/officeDocument/2006/relationships/notesMaster" Target="/ppt/notesMasters/notesMaster1.xml" Id="R594f4a1948f942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0a3268567646a2" /><Relationship Type="http://schemas.openxmlformats.org/officeDocument/2006/relationships/notesMaster" Target="/ppt/notesMasters/notesMaster1.xml" Id="R7a1f8e51ab6b49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5edea5cac949c7" /><Relationship Type="http://schemas.openxmlformats.org/officeDocument/2006/relationships/notesMaster" Target="/ppt/notesMasters/notesMaster1.xml" Id="Red788caf72d043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93e7f14c9d545c1" /><Relationship Type="http://schemas.openxmlformats.org/officeDocument/2006/relationships/notesMaster" Target="/ppt/notesMasters/notesMaster1.xml" Id="R3454a7a7b44a42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1e782c70d274991" /><Relationship Type="http://schemas.openxmlformats.org/officeDocument/2006/relationships/notesMaster" Target="/ppt/notesMasters/notesMaster1.xml" Id="Ree4c7c0fb82d434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e7fdbbf2424e73" /><Relationship Type="http://schemas.openxmlformats.org/officeDocument/2006/relationships/notesMaster" Target="/ppt/notesMasters/notesMaster1.xml" Id="R5c48c50fce0c44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a7c3bca767e4062" /><Relationship Type="http://schemas.openxmlformats.org/officeDocument/2006/relationships/notesMaster" Target="/ppt/notesMasters/notesMaster1.xml" Id="Rf3b3a7e95d8346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8e63012b6364c41" /><Relationship Type="http://schemas.openxmlformats.org/officeDocument/2006/relationships/notesMaster" Target="/ppt/notesMasters/notesMaster1.xml" Id="R8291c2bfa75f4ca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e59becdace44d56" /><Relationship Type="http://schemas.openxmlformats.org/officeDocument/2006/relationships/notesMaster" Target="/ppt/notesMasters/notesMaster1.xml" Id="R9876b39db027493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6a64af634c249dd" /><Relationship Type="http://schemas.openxmlformats.org/officeDocument/2006/relationships/notesMaster" Target="/ppt/notesMasters/notesMaster1.xml" Id="R6cea0d13ce744c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00d96d1e2d945a1" /><Relationship Type="http://schemas.openxmlformats.org/officeDocument/2006/relationships/notesMaster" Target="/ppt/notesMasters/notesMaster1.xml" Id="R0ec46b3fd3954b7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ee7af00e3264550" /><Relationship Type="http://schemas.openxmlformats.org/officeDocument/2006/relationships/notesMaster" Target="/ppt/notesMasters/notesMaster1.xml" Id="Rb9a858181293414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dac304bcf8545a9" /><Relationship Type="http://schemas.openxmlformats.org/officeDocument/2006/relationships/notesMaster" Target="/ppt/notesMasters/notesMaster1.xml" Id="R5e1b53afa2ea4aa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b3ce1ca7ff84ce5" /><Relationship Type="http://schemas.openxmlformats.org/officeDocument/2006/relationships/notesMaster" Target="/ppt/notesMasters/notesMaster1.xml" Id="R37492ddf9b94476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43ffa2e20eb405f" /><Relationship Type="http://schemas.openxmlformats.org/officeDocument/2006/relationships/notesMaster" Target="/ppt/notesMasters/notesMaster1.xml" Id="Rda7c0df76ccc451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01d1f5dc7504ff3" /><Relationship Type="http://schemas.openxmlformats.org/officeDocument/2006/relationships/notesMaster" Target="/ppt/notesMasters/notesMaster1.xml" Id="R5e85c9a5385d4ae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8e67e550e6445e2" /><Relationship Type="http://schemas.openxmlformats.org/officeDocument/2006/relationships/notesMaster" Target="/ppt/notesMasters/notesMaster1.xml" Id="R876ca887926d42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2ebb8ea3f44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c813f3b02f4234" /><Relationship Type="http://schemas.openxmlformats.org/officeDocument/2006/relationships/slideLayout" Target="/ppt/slideLayouts/slideLayout1.xml" Id="Rcf874f645e2d47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874f645e2d47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9cf11c9f743e4" /><Relationship Type="http://schemas.openxmlformats.org/officeDocument/2006/relationships/notesSlide" Target="/ppt/notesSlides/notesSlide1.xml" Id="R54fe0c3a9b8940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4dde2933f41a2" /><Relationship Type="http://schemas.openxmlformats.org/officeDocument/2006/relationships/notesSlide" Target="/ppt/notesSlides/notesSlide2.xml" Id="R6a3e71219d4946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5028d144948db" /><Relationship Type="http://schemas.openxmlformats.org/officeDocument/2006/relationships/notesSlide" Target="/ppt/notesSlides/notesSlide3.xml" Id="R044e0289627542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1d9918f654226" /><Relationship Type="http://schemas.openxmlformats.org/officeDocument/2006/relationships/notesSlide" Target="/ppt/notesSlides/notesSlide4.xml" Id="R49d15298e95e47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4a3a89c1b429d" /><Relationship Type="http://schemas.openxmlformats.org/officeDocument/2006/relationships/notesSlide" Target="/ppt/notesSlides/notesSlide5.xml" Id="R1c183b37953243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40cbf293c46e7" /><Relationship Type="http://schemas.openxmlformats.org/officeDocument/2006/relationships/notesSlide" Target="/ppt/notesSlides/notesSlide6.xml" Id="R1fdcf4538de846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a363152234e55" /><Relationship Type="http://schemas.openxmlformats.org/officeDocument/2006/relationships/notesSlide" Target="/ppt/notesSlides/notesSlide7.xml" Id="Rd997e8775d304e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4a7874aaf4bf8" /><Relationship Type="http://schemas.openxmlformats.org/officeDocument/2006/relationships/notesSlide" Target="/ppt/notesSlides/notesSlide8.xml" Id="Rfc80784b4f0f42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f4a3a04654d16" /><Relationship Type="http://schemas.openxmlformats.org/officeDocument/2006/relationships/notesSlide" Target="/ppt/notesSlides/notesSlide9.xml" Id="R6399348594dc4a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4df405b194b2f" /><Relationship Type="http://schemas.openxmlformats.org/officeDocument/2006/relationships/notesSlide" Target="/ppt/notesSlides/notesSlide10.xml" Id="R961a37617ce440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105f01039400a" /><Relationship Type="http://schemas.openxmlformats.org/officeDocument/2006/relationships/notesSlide" Target="/ppt/notesSlides/notesSlide11.xml" Id="Rbe37fdd5501346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02e634303482c" /><Relationship Type="http://schemas.openxmlformats.org/officeDocument/2006/relationships/notesSlide" Target="/ppt/notesSlides/notesSlide12.xml" Id="Reae90065576548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4ec87ad7e496d" /><Relationship Type="http://schemas.openxmlformats.org/officeDocument/2006/relationships/notesSlide" Target="/ppt/notesSlides/notesSlide13.xml" Id="R31c48d831e5142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42d903760479e" /><Relationship Type="http://schemas.openxmlformats.org/officeDocument/2006/relationships/notesSlide" Target="/ppt/notesSlides/notesSlide14.xml" Id="R761fc4314ba54f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c82ea3ce943d0" /><Relationship Type="http://schemas.openxmlformats.org/officeDocument/2006/relationships/notesSlide" Target="/ppt/notesSlides/notesSlide15.xml" Id="R53ef95ccab634d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f962d8b2c4860" /><Relationship Type="http://schemas.openxmlformats.org/officeDocument/2006/relationships/notesSlide" Target="/ppt/notesSlides/notesSlide16.xml" Id="R8ef60398f17647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f7fbc2c744ba8" /><Relationship Type="http://schemas.openxmlformats.org/officeDocument/2006/relationships/notesSlide" Target="/ppt/notesSlides/notesSlide17.xml" Id="R5f9d0889ea5f46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f36ef8b984153" /><Relationship Type="http://schemas.openxmlformats.org/officeDocument/2006/relationships/notesSlide" Target="/ppt/notesSlides/notesSlide18.xml" Id="R44579c2ceedc414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52f64096241a3" /><Relationship Type="http://schemas.openxmlformats.org/officeDocument/2006/relationships/notesSlide" Target="/ppt/notesSlides/notesSlide19.xml" Id="R37fd0202b76d4c6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0c43f311542fc" /><Relationship Type="http://schemas.openxmlformats.org/officeDocument/2006/relationships/notesSlide" Target="/ppt/notesSlides/notesSlide20.xml" Id="R33a15f604df2490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4168a4c2049f9" /><Relationship Type="http://schemas.openxmlformats.org/officeDocument/2006/relationships/notesSlide" Target="/ppt/notesSlides/notesSlide21.xml" Id="Ra7ead16acb274df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c56a250a84175" /><Relationship Type="http://schemas.openxmlformats.org/officeDocument/2006/relationships/notesSlide" Target="/ppt/notesSlides/notesSlide22.xml" Id="Re6bcf1f8a5fe4f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669f1e6c142d6" /><Relationship Type="http://schemas.openxmlformats.org/officeDocument/2006/relationships/notesSlide" Target="/ppt/notesSlides/notesSlide23.xml" Id="Rb4669b53d79e485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375c62c334011" /><Relationship Type="http://schemas.openxmlformats.org/officeDocument/2006/relationships/notesSlide" Target="/ppt/notesSlides/notesSlide24.xml" Id="Rd5add417ae16421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c1b65985c4704" /><Relationship Type="http://schemas.openxmlformats.org/officeDocument/2006/relationships/notesSlide" Target="/ppt/notesSlides/notesSlide25.xml" Id="R805390f140664ab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03a1793af4033" /><Relationship Type="http://schemas.openxmlformats.org/officeDocument/2006/relationships/notesSlide" Target="/ppt/notesSlides/notesSlide26.xml" Id="R305d1e7193a6415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d610d3b574b8b" /><Relationship Type="http://schemas.openxmlformats.org/officeDocument/2006/relationships/notesSlide" Target="/ppt/notesSlides/notesSlide27.xml" Id="R6fe511405a6949a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9c1b565164522" /><Relationship Type="http://schemas.openxmlformats.org/officeDocument/2006/relationships/notesSlide" Target="/ppt/notesSlides/notesSlide28.xml" Id="R74a878ee9af34f7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0b657607c4e57" /><Relationship Type="http://schemas.openxmlformats.org/officeDocument/2006/relationships/notesSlide" Target="/ppt/notesSlides/notesSlide29.xml" Id="Rdb42f48bc37d4d2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3e306bf7d4a05" /><Relationship Type="http://schemas.openxmlformats.org/officeDocument/2006/relationships/notesSlide" Target="/ppt/notesSlides/notesSlide30.xml" Id="R714e106b929b41c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127dc72e64eb3" /><Relationship Type="http://schemas.openxmlformats.org/officeDocument/2006/relationships/notesSlide" Target="/ppt/notesSlides/notesSlide31.xml" Id="R21b7bbb3d4b843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C7EACF-A64A-480E-8E7B-4B7B07D8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1087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B3185-C795-49A4-8298-61473982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CRYPTICS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5B22B-CFB1-4464-BAB5-A567C196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7810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1D5DB"/>
                </a:solidFill>
              </a:defRPr>
            </a:pPr>
            <a:r>
              <a:rPr sz="1350" b="0">
                <a:solidFill>
                  <a:srgbClr val="D1D5DB"/>
                </a:solidFill>
              </a:rPr>
              <a:t>ST2515 Security Assessment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C6220-EFFA-434C-96D2-978ADC19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0F19"/>
                </a:solidFill>
              </a:defRPr>
            </a:pPr>
            <a:r>
              <a:rPr sz="4350" b="1">
                <a:solidFill>
                  <a:srgbClr val="0B0F19"/>
                </a:solidFill>
              </a:rPr>
              <a:t>SP Games OWASP Security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43CA3-4E9C-4239-9084-0DBE24A8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A focused review of access control, design, injection, authentication, logging, and AWS deployment hardening.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1B51B-DAD9-48B2-A9FD-A2E14BB2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95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05AFC-AF8C-4A37-A991-6EC3E06D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62200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E85D2A"/>
                </a:solidFill>
              </a:defRPr>
            </a:pPr>
            <a:r>
              <a:rPr sz="5850" b="1">
                <a:solidFill>
                  <a:srgbClr val="E85D2A"/>
                </a:solidFill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0112B-C684-4FA0-BAE1-3B0C2928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766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OWASP categories covered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6DA97-9B98-4D5C-AE02-D5E2F603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A01 · A04 · A03 · A07 · A09</a:t>
            </a:r>
          </a:p>
        </p:txBody>
      </p:sp>
    </p:spTree>
    <p:extLst>
      <p:ext uri="{BB962C8B-B14F-4D97-AF65-F5344CB8AC3E}">
        <p14:creationId xmlns:p14="http://schemas.microsoft.com/office/powerpoint/2010/main" val="5095015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477379-9AC9-4EBE-B717-37466E72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181A7-4096-4C49-B0F6-476ED7D0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71C5D-1E34-4E8C-B5A1-5E5B1590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Today’s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B8086-FD04-435C-AB51-353CA4BF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19701-7D96-47F9-83AF-038E0439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B6D7D-BDBE-4B50-A182-3C5D8F7C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00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Executive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4FD2B-8F48-4E6F-A029-0566D041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6AAFB-075C-4D52-B47E-AC1B3108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05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Assessment Methodology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9255E-AA3E-4E3F-AA3F-1056B621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69B7D-E2D5-467D-9440-A48EFD71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09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A01 — Broken Access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AA2DA-0A3D-46F9-9623-D1649500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9B53A-324E-45A0-987C-026E183A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114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A04 — Insecure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D62B4-F5DF-4F8E-AB83-9F517A83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8A0E7-9D01-4349-8699-5E740762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19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A03 — Injection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2A4D9-F032-4670-871C-4E096115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5DBF1-6BAB-4CCE-9C0A-9795995D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0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A07 — Authentication Failures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3E8DE-D944-4797-8EB3-D3ED6F9F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F6068-3B23-4931-98F3-283FF3C8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05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A09 — Logging &amp; Monitoring Failures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7A0E3-6385-485D-B24A-8264127B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73BBB-5749-4A7D-8CC1-732D8019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09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AWS 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F5D2E-BC6B-4FFF-92CE-752274CA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14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E082B-7876-4018-AF1A-C0E5C6F2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14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Conclusion &amp; Live Demo</a:t>
            </a:r>
          </a:p>
        </p:txBody>
      </p:sp>
    </p:spTree>
    <p:extLst>
      <p:ext uri="{BB962C8B-B14F-4D97-AF65-F5344CB8AC3E}">
        <p14:creationId xmlns:p14="http://schemas.microsoft.com/office/powerpoint/2010/main" val="12463102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985CE8-AD67-4EE4-B8C6-312AAA1F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CE264-DB0F-4AA4-8090-04B93911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C7DE0-6935-496E-8F2D-DAD4203B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Executive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65977-6D4F-4116-BD62-693B8596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802B4-059E-4641-A664-F488CDC4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8A8CD-0C4F-4638-8CD1-50106D0E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9"/>
                </a:solidFill>
              </a:defRPr>
            </a:pPr>
            <a:r>
              <a:rPr sz="3600" b="1">
                <a:solidFill>
                  <a:srgbClr val="0B0F19"/>
                </a:solidFill>
              </a:rPr>
              <a:t>14+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25BBD-E14A-4A1E-A4B2-186E7AE5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findings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5EA7F-6207-44D2-9CBA-5C655FFF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0250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332D3-4DB3-4E2B-8053-F50BB538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383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9"/>
                </a:solidFill>
              </a:defRPr>
            </a:pPr>
            <a:r>
              <a:rPr sz="3600" b="1">
                <a:solidFill>
                  <a:srgbClr val="0B0F19"/>
                </a:solidFill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41B3E-A442-4A7C-A96C-FE88AF8F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OWASP categories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CD07C-96CA-4C45-B149-4F3FE0C2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F04F8-1080-4960-96EA-993ABC2C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91C1C"/>
                </a:solidFill>
              </a:defRPr>
            </a:pPr>
            <a:r>
              <a:rPr sz="3600" b="1">
                <a:solidFill>
                  <a:srgbClr val="B91C1C"/>
                </a:solidFill>
              </a:rPr>
              <a:t>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4DE41-B5A6-4EA6-AD98-67502896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combined pre-fix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A7171-4944-4EF4-9538-8EBC812A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858E9-BC5F-4F89-8D61-4845F390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Before fixes, weak trust boundaries allowed privilege escalation, data exposure, and database manipulation.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A8260-3A16-4FB8-86DD-702D8779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45EB4-BB1C-4C43-9F73-4D5BFB38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After fixes, the app moves critical checks server-side and reduces exploitability with parameterised SQL, Cognito, secrets management, and audit logging.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4491B-31A1-4C43-8CA7-03106038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AED97-FA8B-455C-A8BE-27072727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Demo focuses on blocked privilege escalation, protected admin routes, safer payload handling, and production deployment evidence.</a:t>
            </a:r>
          </a:p>
        </p:txBody>
      </p:sp>
    </p:spTree>
    <p:extLst>
      <p:ext uri="{BB962C8B-B14F-4D97-AF65-F5344CB8AC3E}">
        <p14:creationId xmlns:p14="http://schemas.microsoft.com/office/powerpoint/2010/main" val="18749246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7E97B6-8A1A-4005-B4D1-1A3661D5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12333-21A9-47D0-A092-FD942534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169E2-6F8C-4C38-9E73-E8BBC656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How we tested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CA72A-C151-4C6E-9C5B-5672D67F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C2C40-E2E1-4702-B9A1-DCC4171D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1922C-7381-4DDF-9FFB-EDE56D02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E2B48-8403-43A7-B737-F8380C4C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619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Bruno/Postman requests</a:t>
            </a:r>
          </a:p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Browser + DevTools</a:t>
            </a:r>
          </a:p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Terminal/database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B26F4-1C86-4B6A-B350-322DEFE6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ACD30-C031-4674-9CE7-4A436056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6EF45-3E23-401F-BB08-5F36BFCD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52750"/>
            <a:ext cx="2619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Team folders</a:t>
            </a:r>
          </a:p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Assets/Nachiketh</a:t>
            </a:r>
          </a:p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Mike</a:t>
            </a:r>
          </a:p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Sitt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48F85-E31E-45EF-B9AC-7EE182AE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89232-F484-4C0B-BC1F-80E4FACB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Finding format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90493-7A59-409C-B448-CA0ED328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2619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Description</a:t>
            </a:r>
          </a:p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Exploit path</a:t>
            </a:r>
          </a:p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Impact</a:t>
            </a:r>
          </a:p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Fix + re-test</a:t>
            </a:r>
          </a:p>
        </p:txBody>
      </p:sp>
    </p:spTree>
    <p:extLst>
      <p:ext uri="{BB962C8B-B14F-4D97-AF65-F5344CB8AC3E}">
        <p14:creationId xmlns:p14="http://schemas.microsoft.com/office/powerpoint/2010/main" val="10693122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05B6C0-F2A6-40EE-856A-DAA8452A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6C8BE-90C7-4B89-8669-46C01D5E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0D157-A591-4674-A753-FEC4150D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Broken Access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832ED-2616-4266-AF85-8709627E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AA74E-0452-42FB-BC74-62A695BD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F19"/>
                </a:solidFill>
              </a:defRPr>
            </a:pPr>
            <a:r>
              <a:rPr sz="2400" b="1">
                <a:solidFill>
                  <a:srgbClr val="0B0F19"/>
                </a:solidFill>
              </a:rPr>
              <a:t>Users can act outside their intended permissions.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B5D41-094D-4BCB-A2C0-FD4D1FA6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1EDE5-AE47-4C43-BCE9-84A35836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Attack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F1233-3947-4676-ABFC-39344D0D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0A00F-D241-40E1-BEAF-92242A05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194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Missing server-side verifyToken / requireAdmin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B05C-D54F-4C1A-995D-7DC69F91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3D0CD-8581-4E3E-A6BC-4A92E541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7185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Client CSS hides admin UI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905B0-DFFA-429E-B619-DBD95394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5C089-77CC-4D86-81C5-DB638D4C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243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JWT secret and API exposure widen blast radius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190DC-34FA-45B8-AD51-467B0468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For SP Games, this means a regular or unauthenticated user could perform admin-level actions.</a:t>
            </a:r>
          </a:p>
        </p:txBody>
      </p:sp>
    </p:spTree>
    <p:extLst>
      <p:ext uri="{BB962C8B-B14F-4D97-AF65-F5344CB8AC3E}">
        <p14:creationId xmlns:p14="http://schemas.microsoft.com/office/powerpoint/2010/main" val="9604769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7EF619-FAFC-4024-9ECA-68E0DFF9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3ABE5-E5DE-4604-9F02-B43195F4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11B84-9685-4FE7-874C-81B187DE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Broken Access Control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5007C-963D-4F9E-8178-07BD45F0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8FFBA-4A07-4BAB-A74E-2640B9EF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FEB97-3D6E-4DEC-88DA-D844FFE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15620-BEB3-42E9-A135-5F45E988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717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Unprotected API endpoints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FD3DA-2BE1-4FC1-B801-A989661B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EA5A1-7FC9-4763-A968-02F24EF1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3E836-CC63-4AD0-96E1-72ED096A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146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GET /users returns plaintext passwords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DA14E-A677-4973-802B-31F48B31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3377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93F43-DBA4-4928-BBFC-4476070E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84E4C-B8C6-426C-B823-30C0776C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6576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Hardcoded JWT secret: Assignment2key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093BF-5FC1-4B67-BAFE-39395949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94286-1308-4492-B932-10D4EBA5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51BDB-C750-4C00-8318-CBD04DCC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4005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SQL injection supports access-control bypass evidence</a:t>
            </a:r>
          </a:p>
        </p:txBody>
      </p:sp>
    </p:spTree>
    <p:extLst>
      <p:ext uri="{BB962C8B-B14F-4D97-AF65-F5344CB8AC3E}">
        <p14:creationId xmlns:p14="http://schemas.microsoft.com/office/powerpoint/2010/main" val="14761690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8875FA-6A79-44AD-A4BE-8A74D8E9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8B822-0BA2-47EF-AE18-A0BBCAC6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74594-D10D-41C2-BC73-BE892531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Impact and 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953FC-68EA-4F28-BC88-841AFF53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E7EF6-6675-467E-80B2-ADA98CC1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9AC84-25AE-42D5-8335-67C1B505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D06CF-4551-4651-949F-CD124B08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Create admin without login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1BA26-2B73-4627-92DC-B2BB1803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2920B-CA89-473B-A755-EA2D406B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Delete games or alter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24F79-E5C8-440F-B198-841DEB78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A5431-3E79-4C6C-9195-7B730B19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Read all passwords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33B59-6F1A-4447-BF6F-9CF7FAB5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95357-0BB1-494C-A55D-AF32AE34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Forge admin JWTs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6513E-40AE-4E02-9536-54FCD38D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47857"/>
                </a:solidFill>
              </a:defRPr>
            </a:pPr>
            <a:r>
              <a:rPr sz="2100" b="1">
                <a:solidFill>
                  <a:srgbClr val="047857"/>
                </a:solidFill>
              </a:rPr>
              <a:t>Fix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9BA33-06B8-44B5-9B45-8F979D79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AA9F2-2A5D-4FEF-96E3-CB6F3D25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193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Auth middleware + RBAC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4EC89-122D-40BD-B3EB-45FF112F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289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09BD3-3AA4-4DD3-9180-03E58EB2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289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Remove passwords from API responses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2D061-FE6C-4A0F-860C-3BB4355F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57850-1212-40F4-A1BE-7DF53027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385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JWT_SECRET from environment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DE5F9-E298-46AC-B92A-79382D3F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48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8D935-38D9-4B5D-B07D-6FE6DC03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481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Parameterized SQL</a:t>
            </a:r>
          </a:p>
        </p:txBody>
      </p:sp>
    </p:spTree>
    <p:extLst>
      <p:ext uri="{BB962C8B-B14F-4D97-AF65-F5344CB8AC3E}">
        <p14:creationId xmlns:p14="http://schemas.microsoft.com/office/powerpoint/2010/main" val="8475913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DAB0EE-3ED0-48A8-8BAF-ADF6BF48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29564-8755-4C1C-A4E8-FEC4D202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9ABA1-AE93-4E63-8F83-F32EA8FC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Evidence and re-test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34FBE-1DD9-44A2-BD06-8F377324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50A65-2221-47CB-8D10-942051A3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953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35496-BE4B-416E-A072-79C1F7B8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Evidence to show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40A4A-7575-414F-90A8-2372E1E7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4238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5E7EB"/>
                </a:solidFill>
              </a:defRPr>
            </a:pPr>
            <a:r>
              <a:rPr sz="1800" b="0">
                <a:solidFill>
                  <a:srgbClr val="E5E7EB"/>
                </a:solidFill>
              </a:rPr>
              <a:t>Bruno: create admin, delete game, fetch users with passwords.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3DAD5-8505-4AB2-9968-BD3567F5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53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3312F-7875-48F4-9696-205559AB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After fix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2E446-413C-4694-9E56-0083A93E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Protected routes return 401/403 and the server refuses to start without a secret.</a:t>
            </a:r>
          </a:p>
        </p:txBody>
      </p:sp>
    </p:spTree>
    <p:extLst>
      <p:ext uri="{BB962C8B-B14F-4D97-AF65-F5344CB8AC3E}">
        <p14:creationId xmlns:p14="http://schemas.microsoft.com/office/powerpoint/2010/main" val="21242768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037B99-E2FC-487A-93F3-242B8921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5D8F7-AD26-46A1-BBB2-30736A91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C5F1F-462A-4335-B009-7A42097F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Insecure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A068C-8197-49E7-BC31-CA895A70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BB23A-40B1-460B-9DF8-9B0519BF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F19"/>
                </a:solidFill>
              </a:defRPr>
            </a:pPr>
            <a:r>
              <a:rPr sz="2400" b="1">
                <a:solidFill>
                  <a:srgbClr val="0B0F19"/>
                </a:solidFill>
              </a:rPr>
              <a:t>The product design places trust in the wrong 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69EB3-A286-45C9-BE6A-0F3D65B6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604CC-6E96-41C7-9720-D9F7C286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Attack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D13AF-5DDA-4D1D-BD33-FF3CDD53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F4C20-D25C-455A-92C0-767DA355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194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Frontend decides admin visibility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BDFB5-8ED3-40F9-B647-98483A7D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B613B-C976-44D0-B30F-A3E8BF9E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7185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Registration accepts client-supplied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B017E-7B43-4E79-B7C9-15B49C8A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2A690-2A3E-4B75-913F-EC73B398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243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Direct API calls bypass UI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00BB5-5B2C-433D-9A94-EAA67949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The issue is not only a bug; the design allowed the browser to make authority decisions.</a:t>
            </a:r>
          </a:p>
        </p:txBody>
      </p:sp>
    </p:spTree>
    <p:extLst>
      <p:ext uri="{BB962C8B-B14F-4D97-AF65-F5344CB8AC3E}">
        <p14:creationId xmlns:p14="http://schemas.microsoft.com/office/powerpoint/2010/main" val="14563862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8F5F1-AFF2-41F4-9457-0E0F4D75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D6508-2C21-4FBA-AC02-F9AED872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D2F59-CA96-4814-B324-DB7D46B5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Insecure Design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B598D-0F12-429D-8B05-25049CD8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6C8C2-924A-441B-8AEA-FA48791D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4C7AD-B449-4E80-8995-BB43BBA6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3DDF4-4375-43B8-92A0-AB649D57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717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Frontend-only admin 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72866-C007-422C-A1C7-AA35E937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EEC8B-CD1A-4B89-A9B8-D2F4EEE2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8FAFD-D702-4BDE-A687-9B4F395C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146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Client-controlled role on POST /users</a:t>
            </a:r>
          </a:p>
        </p:txBody>
      </p:sp>
    </p:spTree>
    <p:extLst>
      <p:ext uri="{BB962C8B-B14F-4D97-AF65-F5344CB8AC3E}">
        <p14:creationId xmlns:p14="http://schemas.microsoft.com/office/powerpoint/2010/main" val="18066219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3614B5-2565-4C84-80AE-82988EBF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95456-D0D3-4F4D-9D9B-0A75329E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A71D6-4E0D-49A9-973A-84A7D0AE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Impact and 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74FAF-3A59-494F-AEC4-B9F44E18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17E8B-484C-4014-A7FB-C858955F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E81C2-5BB5-4052-8977-438BE929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DA01D-F6F4-4592-9D42-93ABAED3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Self-promotion to 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EE3A1-760C-4367-8CFA-3630B433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A2414-C83A-4F36-9F60-02658094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Admin UI bypassed via DevTools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82C59-9335-4B33-9EBB-59910C7A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1AA35-21DE-4F0A-B030-C655C143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Direct API calls skip hidden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6F4F8-16EE-433C-B5C1-F28B3052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47857"/>
                </a:solidFill>
              </a:defRPr>
            </a:pPr>
            <a:r>
              <a:rPr sz="2100" b="1">
                <a:solidFill>
                  <a:srgbClr val="047857"/>
                </a:solidFill>
              </a:rPr>
              <a:t>Fix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32694-26AB-450F-8A87-65B193B1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16DC4-D40A-4033-8621-6FD92A88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193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Server assigns 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6BB78-8A51-4CC8-8E76-C68A69C8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289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4B07F-4857-41ED-BD85-A13272F5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289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requireAdmin on 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2DB34-830D-40F4-AA2E-65BA25A0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6D78B-A641-403C-A32B-62ACC4B1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385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Remove type from registration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B4B09-EA56-440C-AAB4-F792E2E4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48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60D9F-EB4F-4A9D-98B9-D694DEC1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481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Reject role changes from clients</a:t>
            </a:r>
          </a:p>
        </p:txBody>
      </p:sp>
    </p:spTree>
    <p:extLst>
      <p:ext uri="{BB962C8B-B14F-4D97-AF65-F5344CB8AC3E}">
        <p14:creationId xmlns:p14="http://schemas.microsoft.com/office/powerpoint/2010/main" val="19292233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E54B30-DE90-4357-8F70-CDA128D4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EE935-AC2F-4B70-A49C-BC9F16EE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17EE0-687F-4E75-A889-B58A543C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Injection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E03B3-9EEE-4DA1-BE9A-9F5CD6BA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3DBD5-4D31-41A0-B8E4-3AE66442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F19"/>
                </a:solidFill>
              </a:defRPr>
            </a:pPr>
            <a:r>
              <a:rPr sz="2400" b="1">
                <a:solidFill>
                  <a:srgbClr val="0B0F19"/>
                </a:solidFill>
              </a:rPr>
              <a:t>Untrusted input becomes executable SQL or browser code.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2B727-8561-4481-837D-A5758827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A0891-8529-4C90-A127-C85E5114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Attack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5EB7E-6FA2-4042-A493-15A731BF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291C5-54B7-4772-AA11-C5B367AE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194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String concatenation in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0F719-3170-4074-AC27-72B5CD9E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23C80-5937-4467-8ED6-F5FF009F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7185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innerHTML with unsanitised review/game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955C2-DBA4-4A6D-8C7E-91F4772D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EA9E0-92DD-4F8D-BB8C-760106DB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243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Payloads reach DB and victim browsers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70837-7866-4B9E-8AF8-84D14F19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Injection turns normal form fields into a path for data theft, tampering, and browser-side compromise.</a:t>
            </a:r>
          </a:p>
        </p:txBody>
      </p:sp>
    </p:spTree>
    <p:extLst>
      <p:ext uri="{BB962C8B-B14F-4D97-AF65-F5344CB8AC3E}">
        <p14:creationId xmlns:p14="http://schemas.microsoft.com/office/powerpoint/2010/main" val="15317531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C30875-C415-4995-B567-7329CA85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FCB4F-71D5-42B2-BDB5-4BE87811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A8074-F2BF-4026-B47C-D4916F44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Injection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DE684-C1BD-47B9-B520-C9DA72A4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88A62-81CB-4885-BE6F-839352C9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D8AD8-1486-4841-BA3F-9566B7E8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F645A-C076-40EB-9E3F-547149B3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717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SQLi in GET /users/:userid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CEB76-D412-4D6E-B814-B5DE2C83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6C269-5E0C-4468-A687-00063133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5116E-73F8-478D-B653-4591A7CE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146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Stored XSS in reviews/games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5FB3B-27FF-49FB-8ACC-923C5978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3377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984A7-B23E-4D4F-AF2A-E173249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4C595-94D9-462E-B7F6-E421B56F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6576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SQLi in game create/update</a:t>
            </a:r>
          </a:p>
        </p:txBody>
      </p:sp>
    </p:spTree>
    <p:extLst>
      <p:ext uri="{BB962C8B-B14F-4D97-AF65-F5344CB8AC3E}">
        <p14:creationId xmlns:p14="http://schemas.microsoft.com/office/powerpoint/2010/main" val="6868514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A8B60F-F0F3-40BA-BB59-2BB9152C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683E3-3945-40B1-B5F5-68BD3B6E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3F2D9-3001-485E-ABB1-03526B79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Impact and 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CB8FB-8E5A-4112-8979-E8B24160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9A503-C8AA-43A6-9273-ABFEC1DC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D6999-F27A-4E0D-A6EE-833347C3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F95ED-62C9-4BA6-8DB4-C7DA7371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Dump or alter database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2C68A-AA85-492F-A750-B643D452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34A55-EB7D-4872-BC64-F885843D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Run script in victim browser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0CD2E-F028-4182-84B1-3D598B1A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B75B8-6D48-4DAC-83FC-A4CA2D3C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Bypass auth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A2A28-AB61-4117-94D8-2DA4DC88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A955E-59EA-4911-B703-C4551849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Steal visible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9346A-AE71-40B8-B57E-E5C1B585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47857"/>
                </a:solidFill>
              </a:defRPr>
            </a:pPr>
            <a:r>
              <a:rPr sz="2100" b="1">
                <a:solidFill>
                  <a:srgbClr val="047857"/>
                </a:solidFill>
              </a:rPr>
              <a:t>Fix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54C1F-242D-47C3-92CC-15937DAD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BB3621-1B71-4AE0-8369-42F9BC48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193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Use ? placeholders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7310A-072B-41D8-884F-3C12CEC6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289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7F4C1-AC7A-41BF-B0AE-838CBE30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289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Validate inputs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1C306-C182-4C5C-80DF-78CCE979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CA07C-AEF5-4003-A5EE-7BD5A5A8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385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Escape/sanitise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C0CA1-AE7F-4530-BE5D-1CD2F811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48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EC1606-5497-4BBE-BD9E-3339D4DB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481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Avoid raw innerHTML</a:t>
            </a:r>
          </a:p>
        </p:txBody>
      </p:sp>
    </p:spTree>
    <p:extLst>
      <p:ext uri="{BB962C8B-B14F-4D97-AF65-F5344CB8AC3E}">
        <p14:creationId xmlns:p14="http://schemas.microsoft.com/office/powerpoint/2010/main" val="55545608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05F7F8-3D87-42C5-BD97-85183241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57C6B-9682-49D5-8526-ED3AE487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F94DA-A05B-4980-840B-A70B2D04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Evidence and re-test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231F6-A964-49E4-ACAB-9FACB9D5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744C4-FB65-4009-96AC-557250DA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4953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8FAF8-3B9F-4F2B-8D76-7E879FF8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Evidence to show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26B6D-080D-454E-B486-BC88EB04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4238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5E7EB"/>
                </a:solidFill>
              </a:defRPr>
            </a:pPr>
            <a:r>
              <a:rPr sz="1800" b="0">
                <a:solidFill>
                  <a:srgbClr val="E5E7EB"/>
                </a:solidFill>
              </a:rPr>
              <a:t>Bruno payloads: ' OR 1=1 -- and &lt;script&gt;alert(1)&lt;/script&gt;.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BDC7B-BF56-4C13-A1DC-21757AA8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53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83D60-7848-4755-9BF6-6BBD0725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After fix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C5FE5-CB72-40B5-BF8C-4DFA6DDF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Same payloads are blocked, parameterized, or rendered harmless.</a:t>
            </a:r>
          </a:p>
        </p:txBody>
      </p:sp>
    </p:spTree>
    <p:extLst>
      <p:ext uri="{BB962C8B-B14F-4D97-AF65-F5344CB8AC3E}">
        <p14:creationId xmlns:p14="http://schemas.microsoft.com/office/powerpoint/2010/main" val="5224840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670CC4-9311-49A0-9159-BA33E969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D662D-A29D-4F45-86D6-E2E7A79F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19640-AD22-41D3-B0F0-F01CCF4A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Authentication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C3A72-3B6F-4A25-83C2-F6263F34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6A3C0-8613-447E-B544-A37531F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F19"/>
                </a:solidFill>
              </a:defRPr>
            </a:pPr>
            <a:r>
              <a:rPr sz="2400" b="1">
                <a:solidFill>
                  <a:srgbClr val="0B0F19"/>
                </a:solidFill>
              </a:rPr>
              <a:t>Login, session, and credential handling are too weak.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C7ACF-DCC5-4746-BBF5-6DFF3F7F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CB42B-0FB7-4E5A-9051-590C1BE9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Attack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8617A-4C3D-4D0E-856B-18AF527E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F87BE-4B35-4202-BC81-74F146B0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194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Plaintext passwords in 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8356E-6973-45E2-8869-A03BC382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5C168-2B2B-4943-9333-EFF4E060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7185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Tokens stored in localStorage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C96D8-FFCD-4F53-85A0-EA88D320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BCFE3-B112-48F1-931A-A662C392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243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Weak/no password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DE6A7-BB3A-401C-A9E3-145FF28E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976AA-0549-48CC-8C6F-036B1559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7675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Hardcoded signing key overlap with A01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6EA12-9CF8-4CC1-8D29-CB56360F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A successful XSS or database leak can become account takeover rather than only a display issue.</a:t>
            </a:r>
          </a:p>
        </p:txBody>
      </p:sp>
    </p:spTree>
    <p:extLst>
      <p:ext uri="{BB962C8B-B14F-4D97-AF65-F5344CB8AC3E}">
        <p14:creationId xmlns:p14="http://schemas.microsoft.com/office/powerpoint/2010/main" val="31463891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B76AFC-DB71-43DD-9460-FF176950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51599-1083-4797-BD1D-852920E1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FA3A4-E2CB-44AE-AF15-EA749C48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Authentication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93F50-D4A1-4D39-82E1-3B5CEC52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700FA-9271-484F-84BA-761C1DD9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8C0D6-5651-475D-8F46-CC724F9A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6059E-47C7-4517-A9E9-C497E652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717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Plaintext password 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C4074-D0E4-4D1E-821D-15ECDB54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B887D-0922-49D2-BCD4-09EC5611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F2732-FB43-4FFE-9936-0D90ACB6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146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Session hijacking through client token 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6DFEE-27B1-4149-92F0-FB1DD134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3377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2900F-EE50-4A3A-B08E-D9C7F444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Medium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8995D-2DF9-4136-8BFF-E468E188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6576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Weak password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641D2-DE6B-4D93-9263-B5848754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B84AA-B84B-4B32-A7E8-DB7F92A5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0B027-0F72-43D5-954C-D5F08662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4005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Hardcoded signing key also covered under A01</a:t>
            </a:r>
          </a:p>
        </p:txBody>
      </p:sp>
    </p:spTree>
    <p:extLst>
      <p:ext uri="{BB962C8B-B14F-4D97-AF65-F5344CB8AC3E}">
        <p14:creationId xmlns:p14="http://schemas.microsoft.com/office/powerpoint/2010/main" val="93621769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D51841-C8E2-478E-A9CE-EBA9DE5A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3FF61-1E02-4A1C-BD1B-34A76EBB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F1779-CA79-40DE-BCEA-29C8354B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Impact and 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4DB96-6F8B-4A05-9E28-DE43A305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E82D4-3101-4A58-81ED-57AB34E5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16345-4059-4B38-9D40-56522D5E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2D4A4-768F-4838-B215-5250149A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Credential theft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82106-84B2-42AD-801A-04B1BD43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B6610-E8CC-4FA9-A714-0CE568B1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Token theft via XSS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5D217-A88C-4670-AC08-DC3EAC8F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6D564-7637-4689-82FF-522C8196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Account takeover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83996-B68C-4E7B-8B3E-91772EF9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30573-D90F-4C44-9A2B-2031485A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Replay of weak sessions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9066D-A1E2-45F6-B1C5-BDE87908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47857"/>
                </a:solidFill>
              </a:defRPr>
            </a:pPr>
            <a:r>
              <a:rPr sz="2100" b="1">
                <a:solidFill>
                  <a:srgbClr val="047857"/>
                </a:solidFill>
              </a:rPr>
              <a:t>Fix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C1C92-92DF-4E8E-8D04-6D8853EA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1D91D-D254-4AE8-86E3-DBAB2CF9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193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bcrypt password hashing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BF6C2-62C9-429C-89C3-9B16D13B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289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3CB85-C329-4847-827B-1DDDD706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289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AWS Cognito Hosted UI + PKCE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C01BB-D7C7-418E-B872-F8E0F147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6A39C6-454A-4501-BEB1-D6159EA8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385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JWKS backend verification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630D8-775E-4F02-9C0A-5BAD4444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48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DF346-E5E5-4B18-8D68-F8BAF3DC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481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httpOnly cookies recommended</a:t>
            </a:r>
          </a:p>
        </p:txBody>
      </p:sp>
    </p:spTree>
    <p:extLst>
      <p:ext uri="{BB962C8B-B14F-4D97-AF65-F5344CB8AC3E}">
        <p14:creationId xmlns:p14="http://schemas.microsoft.com/office/powerpoint/2010/main" val="23196692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D3A1A8-38B6-4B9D-B4E7-AAFA04C8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40338-17A4-44D0-A976-548FE26B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3AF2A-E5E9-4082-BD31-3F18C716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Logging &amp; Monitoring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1E7CB-1D08-402C-950E-31D0FAA6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A5E9F-9C68-44F4-9C8E-A8066737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F19"/>
                </a:solidFill>
              </a:defRPr>
            </a:pPr>
            <a:r>
              <a:rPr sz="2400" b="1">
                <a:solidFill>
                  <a:srgbClr val="0B0F19"/>
                </a:solidFill>
              </a:rPr>
              <a:t>Security events are not captured well enough to detect or investigate attacks.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251AD-CF98-4467-86F7-C68C6F81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FB386-8065-4B38-AA41-72BC3E9B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Attack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59543-117A-4032-A63B-0AC72F95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1C9FA-17F2-43AE-A098-E6CF1937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194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console.log(err) leaks 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B6F0D-D0BC-4472-94DB-CE8F3EE2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B38A3-2C2D-49D8-A4B5-4026FA01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7185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Different errors reveal accounts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12F04-BA86-42C4-8B46-F3EDE06C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5D2A"/>
                </a:solidFill>
              </a:defRPr>
            </a:pPr>
            <a:r>
              <a:rPr sz="172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0813F-62FD-4EBA-A284-262E17D7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2430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No audit trail for sensitive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D360A-A74C-44B9-A3C1-43272EF4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Without durable security logs, attacks can succeed quietly and incident response has little evidence.</a:t>
            </a:r>
          </a:p>
        </p:txBody>
      </p:sp>
    </p:spTree>
    <p:extLst>
      <p:ext uri="{BB962C8B-B14F-4D97-AF65-F5344CB8AC3E}">
        <p14:creationId xmlns:p14="http://schemas.microsoft.com/office/powerpoint/2010/main" val="92153145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3FA4A3-29A5-460E-A913-04011262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16D30-633E-440E-8D83-262315D2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782AF-2494-45AC-8B1C-4670E87E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Logging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A6A18-7103-4B5E-9972-B72D65F3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87FFA-C130-4DBA-8868-93F96563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9DAF1-4692-42FB-BEAB-2E1E9942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Medium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00D69-5E78-4258-9431-1854C8F8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717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No audit trail for registration/reviews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B6C06-12E6-433D-B3D6-8ED36430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34950-BDD4-4142-833F-AD2DBE26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Medium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874B9-DC8B-4E0F-BD20-9456FFAC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146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SQL errors leak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573E4-F85B-4DAF-8EC5-D211995E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3377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2C384-887B-4AA6-AC3C-678F3500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Medium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94676-81B4-454A-86CD-4B962CEA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6576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Username/email enumeration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D133D-CC65-41AD-9B27-504C9FFA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F39C9-0A06-40E0-818C-A9367A31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02CB5-9169-4824-87C1-8D560D3F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4005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Review impersonation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43E76-83E8-4583-8388-BC098746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E8A0E-3B6C-49B0-BAA0-D0DCBC35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Medium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E7AF6-0AC1-430B-A16A-8629C528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1435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Missing auth logging</a:t>
            </a:r>
          </a:p>
        </p:txBody>
      </p:sp>
    </p:spTree>
    <p:extLst>
      <p:ext uri="{BB962C8B-B14F-4D97-AF65-F5344CB8AC3E}">
        <p14:creationId xmlns:p14="http://schemas.microsoft.com/office/powerpoint/2010/main" val="175147276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D24B67-0E8D-4DAA-AA0D-1DCD23EC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AD2BA-B458-4FB0-841F-C8305E61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6B35B-4A6C-4D11-89EB-D0C01FF9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Impact and 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1447C-F354-45F6-9633-0FE8DC56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50C74-BB98-40F7-B5FB-ABEED2F7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BD66D-547C-4562-8693-309B042D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F10BA-D4FD-444C-913E-FDBC5092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No forensic trail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1EAE1-9B9F-4E62-8B5D-959F0BF5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ED154-6A68-4A9C-8E4F-5F774747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Account enumeration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08A61-48E8-46A4-9559-58C36A7B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912AB-AFD4-41BA-ABC8-12EF853C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Impersonated reviews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868B2-5EC3-421B-AD7C-71C038D1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CBAB9-534C-415B-91AC-01C43F53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Logs lost on EC2 restart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5ED16-8940-40E7-A3CB-78E7C6BC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47857"/>
                </a:solidFill>
              </a:defRPr>
            </a:pPr>
            <a:r>
              <a:rPr sz="2100" b="1">
                <a:solidFill>
                  <a:srgbClr val="047857"/>
                </a:solidFill>
              </a:rPr>
              <a:t>Fix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C30A3-71DD-41F9-AF49-080723B8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2F191-3E00-41C4-B068-376418D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193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securityLog.js audit()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8FCB7-622D-43BD-B3F8-1CFD71A0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289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87E28-9F5E-4E40-A484-C01FC9B8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289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safeError()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F1F8A-9552-4084-8BB7-2C473C89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A9A34-7FC9-4AA4-B714-DCC620EB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385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Generic 422 messages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7E162E-9EDA-42D6-A8C8-F08819B1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48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09005B-AF6B-4D61-BDC1-F8B9880C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481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Review ownership 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BB6631-B568-4F8B-8E7E-C96D5085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577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E214CE-2E2A-4E77-8E0B-D300CE65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577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CloudWatch retention next</a:t>
            </a:r>
          </a:p>
        </p:txBody>
      </p:sp>
    </p:spTree>
    <p:extLst>
      <p:ext uri="{BB962C8B-B14F-4D97-AF65-F5344CB8AC3E}">
        <p14:creationId xmlns:p14="http://schemas.microsoft.com/office/powerpoint/2010/main" val="93751169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FBFB4E-DAE1-4809-BC30-ABE53FCF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AWS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6A315-43CC-4E68-B231-BB22F696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AB04B-5E12-40D5-9830-C33A9035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Production deployment hardening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CA7C8-F440-4429-B788-8497DEFB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BA216-8C6E-4D1D-A84F-B5CEC36B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94081-FA53-43AE-8488-A2A537F4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S3 / Amplify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E4AED-BBCB-46E1-880A-AC281469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Static frontend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HTTPS callbacks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F1818-381D-4585-ACFE-DE9ACABF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CB792-93CB-4B28-9E50-B2802151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Cognito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60B5D-CA11-4FB6-A1D3-9B46A7A6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Hosted UI + PKCE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Admin group → 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55159-EAB0-4AE1-BB8E-BF53EF53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BD9A3-675A-4F72-B84A-50EB2E01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EC2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2EA0D-CB04-4DFF-88AF-0A2AC2E7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Node/Express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verifyToken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4DFFC-0FCC-491B-9024-7C56E569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E08BE-3CF2-4E02-9DB4-9700D6EE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MySQL / 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2FB5D-313A-4525-800A-B92061F1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Parameterized access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least privilege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5E6A9-E89B-4F91-AE40-F39317A1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AD29A-8D49-4BBD-A6EF-0A5C6DD2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Secrets Manager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A3AD7-BB37-4720-ADDF-98E75691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67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JWT secret out of source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fail-fast config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07A4A-223B-459E-B83E-AF1093AB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0FAB5-BD3F-4672-B9FF-FDF4D121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CloudWatch 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9FC1AE-462F-4363-A4B7-29E30F6F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67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Centralized logs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retention + alerts</a:t>
            </a:r>
          </a:p>
        </p:txBody>
      </p:sp>
    </p:spTree>
    <p:extLst>
      <p:ext uri="{BB962C8B-B14F-4D97-AF65-F5344CB8AC3E}">
        <p14:creationId xmlns:p14="http://schemas.microsoft.com/office/powerpoint/2010/main" val="143665787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D7F58-FB14-42EE-B09A-C1A482B7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4ED97-E91F-4306-ABE6-D804F658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DE676-A094-4802-865B-A364EFCB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What the demo 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DAA9B-31C2-4909-9151-C5701196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6DD28-4D96-4532-A5C3-717B9127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32575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7C686-F276-40F4-A57C-906361E2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76450"/>
            <a:ext cx="32575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32E5E-E07F-4A83-889F-93C034A7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32575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B3762-EABF-4CD6-B588-60293B23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1. Raw 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31FFA-F354-4F8E-A780-DEA050DE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Open the vulnerable code or request and explain what trust boundary is broken.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2174E-5520-45E5-800A-0A7C1AFA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62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2. Exploit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F4DBA-0206-4697-A206-96518C0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527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5E7EB"/>
                </a:solidFill>
              </a:defRPr>
            </a:pPr>
            <a:r>
              <a:rPr sz="1725" b="0">
                <a:solidFill>
                  <a:srgbClr val="E5E7EB"/>
                </a:solidFill>
              </a:rPr>
              <a:t>Act as a malicious user using Bruno, browser DevTools, terminal output, or database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528AE-10DF-430A-B7C5-CA71E5B9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62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47857"/>
                </a:solidFill>
              </a:defRPr>
            </a:pPr>
            <a:r>
              <a:rPr sz="2100" b="1">
                <a:solidFill>
                  <a:srgbClr val="047857"/>
                </a:solidFill>
              </a:rPr>
              <a:t>3. Solved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2CEDF-893C-4FDD-8EE5-CEA6D117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Switch to the fixed version and show the same action is rejected, harmless, or logged safely.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AD343-5032-476E-9639-D9E58BDB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Use one fast example per OWASP category. The story is: this was exploitable, this is how, this is how we fixed it.</a:t>
            </a:r>
          </a:p>
        </p:txBody>
      </p:sp>
    </p:spTree>
    <p:extLst>
      <p:ext uri="{BB962C8B-B14F-4D97-AF65-F5344CB8AC3E}">
        <p14:creationId xmlns:p14="http://schemas.microsoft.com/office/powerpoint/2010/main" val="164794712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441F22-C2C2-4A55-A99A-AA49FEA3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E6796-5F49-4889-8A78-7F25D100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C1086-4886-46C8-8291-8DB5577D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A01 — Broken Access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D0BF4-C333-4CD7-A245-CBC75393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D4C5F-ABB8-4633-8630-C9A9B3CE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6652C-0222-44C5-BCF8-6883B08D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Raw vulnerable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6CC3E-B441-4E16-B464-692310E8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Find route files with missing verifyToken / requireAdmin, then show CSS-only admin hiding in the frontend.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2A08C-D165-41B2-B603-1DE7E6D1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95733-8F9F-4237-A1E5-AF9D34EA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Malicious user exploit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A50DB-904C-4218-8AAC-FFE7EA94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In Bruno, call an admin endpoint without login: create an Admin user, delete a game, or fetch /users.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6F403-EB59-43E8-8F74-F65A5950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43E39-2DB1-4141-BCF9-69E61D5B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</a:defRPr>
            </a:pPr>
            <a:r>
              <a:rPr sz="1800" b="1">
                <a:solidFill>
                  <a:srgbClr val="047857"/>
                </a:solidFill>
              </a:rPr>
              <a:t>Addressed / solved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D97E6-773F-4258-87B8-0873B387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Add auth middleware and RBAC. Re-run the same request and show 401/403; /users no longer returns passwords.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FD0F7-8E51-4E39-8ADC-4B680E5A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Presenter cue: keep each exploit under one minute; show screenshots if the live environment is unstable.</a:t>
            </a:r>
          </a:p>
        </p:txBody>
      </p:sp>
    </p:spTree>
    <p:extLst>
      <p:ext uri="{BB962C8B-B14F-4D97-AF65-F5344CB8AC3E}">
        <p14:creationId xmlns:p14="http://schemas.microsoft.com/office/powerpoint/2010/main" val="29935460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AC8A25-84DF-4502-915F-ADAFF668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164D9-3FBC-4258-B664-9AD9C543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0352C-F9FD-440E-9C2B-21D28A64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A04 — Insecure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5427D-FBB8-400F-9644-EB21A4D1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25DCB-7EF8-43F3-A935-8A6D0283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BEBDB-62D1-47CE-A8C6-AB7A92CE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Raw vulnerable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41ABA-9774-4720-8B6D-4DC75557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Open registration request/body where client can send type: Admin and frontend decides admin visibility.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4751B-C022-4058-AD51-A6C0146D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47CE2-FA1C-45B0-AA3D-FEC6AD6E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Malicious user exploit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07F1B-6D31-465F-A4F5-D9E70245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Send POST /users with type=Admin or reveal hidden admin panel through DevTools/CSS tampering.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FECA6-D1F3-48B7-83A4-56418293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32715-0E61-41FC-B3B4-137EEBE2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</a:defRPr>
            </a:pPr>
            <a:r>
              <a:rPr sz="1800" b="1">
                <a:solidFill>
                  <a:srgbClr val="047857"/>
                </a:solidFill>
              </a:rPr>
              <a:t>Addressed / solved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63993-3679-4E5D-9F4F-FAB17B2E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Server ignores client role and assigns default user role. requireAdmin protects admin actions even if UI is modified.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A3CE5-04A2-4754-836E-CEBACE9C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Presenter cue: keep each exploit under one minute; show screenshots if the live environment is unstable.</a:t>
            </a:r>
          </a:p>
        </p:txBody>
      </p:sp>
    </p:spTree>
    <p:extLst>
      <p:ext uri="{BB962C8B-B14F-4D97-AF65-F5344CB8AC3E}">
        <p14:creationId xmlns:p14="http://schemas.microsoft.com/office/powerpoint/2010/main" val="41982488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D3DD62-558C-4E18-9D43-01E68061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2D493-DC9C-400F-BEB9-85E219D6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41DE1-E576-4A7A-8D9E-DC7970D8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A03 — Injection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1AC98-5A69-4B59-B072-7A236A9D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47103-E518-4B2B-9418-ECFE4A94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CE3EC-E3F1-4F7A-8218-AD504586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Raw vulnerable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9256F-39F1-41A4-928C-C22F6363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Open raw SQL string concatenation or innerHTML rendering for reviews/game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3BF37-7FA3-4B76-A726-AEF25248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51B8D-76E6-440A-A27D-40E5D4E4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Malicious user exploit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1BA29-81A3-4533-8971-32A1CA23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Bruno payload ' OR 1=1 -- for SQLi, then show stored XSS with &lt;script&gt;alert(1)&lt;/script&gt; or a safe screenshot.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26C91-8791-4FFF-8587-8AC7B066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81A28-7A21-4C90-A42B-3C6E73F5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</a:defRPr>
            </a:pPr>
            <a:r>
              <a:rPr sz="1800" b="1">
                <a:solidFill>
                  <a:srgbClr val="047857"/>
                </a:solidFill>
              </a:rPr>
              <a:t>Addressed / solved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11EF7-2E31-4498-A8C1-E3DBD4BD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? placeholders, validation, and safe rendering. Same payload becomes rejected or displayed as harmless 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6308B-0B22-41E6-9549-62FD7693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Presenter cue: keep each exploit under one minute; show screenshots if the live environment is unstable.</a:t>
            </a:r>
          </a:p>
        </p:txBody>
      </p:sp>
    </p:spTree>
    <p:extLst>
      <p:ext uri="{BB962C8B-B14F-4D97-AF65-F5344CB8AC3E}">
        <p14:creationId xmlns:p14="http://schemas.microsoft.com/office/powerpoint/2010/main" val="19885082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691FB4-AF01-45C6-B896-81BE44F0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294A9-B9A4-4C0C-9AAF-A9EC2C61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7B293-0FF0-414F-A864-0FA08464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A07 — Authentication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D2A3F-1636-4546-A730-ED02A986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6E84B-A0B0-4EA5-ABCB-E88A77FB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27054-4E37-4C18-8693-DC332D7A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Raw vulnerable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7E079-1F43-48B9-A54C-23B429A4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Show plaintext password record, localStorage token, Remember Me password, or hardcoded JWT secret.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CF5D7-29DA-4E63-951F-C40AC18D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9606B-F91E-4BB4-BFEE-EB2BB9FE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Malicious user exploit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C7DF5-D87F-4751-BFA5-6775B0FA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Explain attacker path: DB leak exposes passwords; XSS reads localStorage token; forged JWT uses known secret.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1EDE9-E5AB-4689-A427-FF1BFEB4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C362D-2825-4E31-83B2-4F3B186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</a:defRPr>
            </a:pPr>
            <a:r>
              <a:rPr sz="1800" b="1">
                <a:solidFill>
                  <a:srgbClr val="047857"/>
                </a:solidFill>
              </a:rPr>
              <a:t>Addressed / solved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019A4-C229-4ACA-B28E-C2F6C92B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bcrypt, Cognito Hosted UI + PKCE, JWKS verification, env secrets, and recommend httpOnly secure cookies.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E1370-E8A8-4129-AEBA-68A78C4E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Presenter cue: keep each exploit under one minute; show screenshots if the live environment is unstable.</a:t>
            </a:r>
          </a:p>
        </p:txBody>
      </p:sp>
    </p:spTree>
    <p:extLst>
      <p:ext uri="{BB962C8B-B14F-4D97-AF65-F5344CB8AC3E}">
        <p14:creationId xmlns:p14="http://schemas.microsoft.com/office/powerpoint/2010/main" val="174334513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A75C4E-458D-4096-B91D-90767231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86814-5D4D-4A47-B4E6-F02ED55D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41348-7513-46C8-84B7-D3A6FF15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A09 — Logging &amp; Monitoring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8B30A-E4EF-41E2-86AC-9D5BEBE4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12C79-B99E-4902-A168-08C53855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0A362-B848-45F7-AF88-F47256D6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Raw vulnerable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ACA2A-5A87-4CC9-9E82-3953800E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Show console.log(err), specific username/email errors, and missing audit events in raw version.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D6BA1-C6DB-4EB4-8E03-D0D6E49B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57D89-A7D7-4EB0-85BB-CEDDF765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Malicious user exploit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7DCAE-6E2E-4442-91D4-873D9EF9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Trigger failed registration/login/review actions and show enumeration or unsafe logs.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285E0-46BB-451A-AA07-72BAC758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238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552D6-56F8-4E9E-A1B7-57AC622D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</a:defRPr>
            </a:pPr>
            <a:r>
              <a:rPr sz="1800" b="1">
                <a:solidFill>
                  <a:srgbClr val="047857"/>
                </a:solidFill>
              </a:rPr>
              <a:t>Addressed / solved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0C5DD-4521-41A4-B66E-4E7BC7B3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audit(), safeError(), generic 422 messages, review ownership checks, and CloudWatch/centralised retention for production.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C1A52-E18C-47BC-8C6F-0956175F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Presenter cue: keep each exploit under one minute; show screenshots if the live environment is unstable.</a:t>
            </a:r>
          </a:p>
        </p:txBody>
      </p:sp>
    </p:spTree>
    <p:extLst>
      <p:ext uri="{BB962C8B-B14F-4D97-AF65-F5344CB8AC3E}">
        <p14:creationId xmlns:p14="http://schemas.microsoft.com/office/powerpoint/2010/main" val="118218849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50609C-2031-45C7-B3B6-18B236C7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11454-72AD-4EB1-91E8-19AE611A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B3082-1D43-4728-8AB8-95EC6AA3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Conclusion and remaining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94296-F6C4-466E-B115-F3F4D3B2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1BBBD-5E9E-488D-84CC-89F20E7E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1C1C"/>
                </a:solidFill>
              </a:defRPr>
            </a:pPr>
            <a:r>
              <a:rPr sz="2250" b="1">
                <a:solidFill>
                  <a:srgbClr val="B91C1C"/>
                </a:solidFill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06FBA-3821-4C84-A2AB-685E09EC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92D66-0F37-469C-BA67-F8EEEC68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Client-side trust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52738-AF10-41E1-8CED-560F7810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4856D-385E-4F46-82C0-4C87FE0A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Raw SQL paths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46FC9-F612-47BC-9AFC-B6221175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02884-4F1E-4B9D-A42C-FA33A5E4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Plaintext credentials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5BECE-C7FF-4162-9375-15F51529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5CC95-5580-43E1-A4B1-7A7FB72B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Console-only security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3AC9F-F0AB-4269-A0A9-2DC98B60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47857"/>
                </a:solidFill>
              </a:defRPr>
            </a:pPr>
            <a:r>
              <a:rPr sz="2250" b="1">
                <a:solidFill>
                  <a:srgbClr val="047857"/>
                </a:solidFill>
              </a:rPr>
              <a:t>After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4D4B2-BF79-4010-B5C6-A9CD2A5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0F749-113F-4F9B-90BE-12DEAD5F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6225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Server-side RBAC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C4E5B-EFD9-4D94-BFC9-B9ACBCDA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5BACA-0856-49D7-8A3C-FA957CD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7660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Parameterized 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51570-6373-4993-871D-A6E9B905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AD7BF-0916-44B2-B15C-A7D2A3F4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9095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Cognito + external secrets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9520C-8265-46B3-967D-89F99AEE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04CB07-74A3-4BEE-A941-64AC23BD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0530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Structured audit logging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CE6053-AC23-4EA9-BB60-437760D0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Next hardening: HTTPS/HSTS everywhere, secure httpOnly cookies, complete bcrypt migration, CloudWatch retention and alerts.</a:t>
            </a:r>
          </a:p>
        </p:txBody>
      </p:sp>
    </p:spTree>
    <p:extLst>
      <p:ext uri="{BB962C8B-B14F-4D97-AF65-F5344CB8AC3E}">
        <p14:creationId xmlns:p14="http://schemas.microsoft.com/office/powerpoint/2010/main" val="52818957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E2B4DC-3CCF-45E3-85E4-052B09FA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A51B1-ACCF-42E9-8258-7D3C95B7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5CE9F-D8A4-4E65-93DE-536DAE0C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Team reflections: what we learnt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7DF0C-3522-4A6B-A1EC-D4B34E4D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B616E-0DD3-4829-8CC5-9B36805A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A5B33-5100-42BC-A4B9-4BFA8B5F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Trust the 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D4A3D-912D-4204-BBA6-CBC63BE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Frontend hiding is not access control; every sensitive action needs backend enforcement.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3D6F8-B194-4320-8125-0234EC9F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47875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F6285-537E-40EF-8BD8-E51AAAB4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193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Secure coding is systematic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F2FD2-B6A7-4BE7-8E6E-5214056A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03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Parameterized SQL, output encoding, and input validation must be defaults, not last-minute patches.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A236B-5A87-44C1-9926-51FAB610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7124B-E558-46F3-914A-BFA916E9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Auth is a design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FCF31-9817-443A-A415-2A7B44B8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Passwords, tokens, JWT secrets, and roles need a coherent architecture, not isolated fixes.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8CF93-D3A3-4AB0-92F7-0731ABDA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147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BF68B-25EB-4D17-867A-614075AD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Logs are security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3A60F-FA7A-4F34-829C-E85E2590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If attacks are not logged safely and durably, the team cannot investigate or prove impact.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51B2A-E802-412A-81C4-BB3A49F4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As a team, the biggest takeaway is that security is not one feature. It is the way data, identity, code, deployment, and monitoring connect.</a:t>
            </a:r>
          </a:p>
        </p:txBody>
      </p:sp>
    </p:spTree>
    <p:extLst>
      <p:ext uri="{BB962C8B-B14F-4D97-AF65-F5344CB8AC3E}">
        <p14:creationId xmlns:p14="http://schemas.microsoft.com/office/powerpoint/2010/main" val="201452729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436DE6-9AEA-4023-ACAE-6CE0AE57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2A"/>
                </a:solidFill>
              </a:defRPr>
            </a:pPr>
            <a:r>
              <a:rPr sz="1125" b="1">
                <a:solidFill>
                  <a:srgbClr val="E85D2A"/>
                </a:solidFill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FC149-32CB-4886-B56F-DA6D4734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3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CDE61-D9BF-4B5E-94F0-0574AB1B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Live demo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F6901-46CE-4105-B915-9A3D8D93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30A7A-5FEF-4148-9863-AC418BAA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5D2A"/>
                </a:solidFill>
              </a:defRPr>
            </a:pPr>
            <a:r>
              <a:rPr sz="187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231ED-1F40-4397-824E-E6834D77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998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Login with Cognito Hosted UI and browse as a normal user.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76C25-30FD-4C2B-AAA4-47E1F213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95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5D2A"/>
                </a:solidFill>
              </a:defRPr>
            </a:pPr>
            <a:r>
              <a:rPr sz="187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5443D-10D7-4843-99A6-502D832E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998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Attempt role escalation with POST /users type=Admin → rejected.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B26FD-934E-4211-BA9D-96DC24C2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5D2A"/>
                </a:solidFill>
              </a:defRPr>
            </a:pPr>
            <a:r>
              <a:rPr sz="187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49EC3-66CF-4F4A-B9F5-B546D378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998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Call protected admin route without a token → 401/403.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B6CBD-5911-433F-800C-C36A40F0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95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5D2A"/>
                </a:solidFill>
              </a:defRPr>
            </a:pPr>
            <a:r>
              <a:rPr sz="187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AC4E3-2FC0-47A1-A569-EEF1467D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998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Re-run representative SQLi/XSS payloads → blocked or harmless.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C8D29-AAFE-43E9-A6E1-7EADC057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5D2A"/>
                </a:solidFill>
              </a:defRPr>
            </a:pPr>
            <a:r>
              <a:rPr sz="187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40006-AA65-44DB-AFE8-E60D5540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998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Trigger audit events and show structured security logs.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44EC5-5933-4169-87A4-9CEC65E0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5D2A"/>
                </a:solidFill>
              </a:defRPr>
            </a:pPr>
            <a:r>
              <a:rPr sz="1875" b="1">
                <a:solidFill>
                  <a:srgbClr val="E85D2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F0015-E67C-4843-9296-032A012B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8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Flash AWS evidence: Secrets Manager, EC2, S3/Amplify, Cognito.</a:t>
            </a:r>
          </a:p>
        </p:txBody>
      </p:sp>
    </p:spTree>
    <p:extLst>
      <p:ext uri="{BB962C8B-B14F-4D97-AF65-F5344CB8AC3E}">
        <p14:creationId xmlns:p14="http://schemas.microsoft.com/office/powerpoint/2010/main" val="547900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2026-06-28T11:36:17.4130000Z</dcterms:created>
  <dcterms:modified xsi:type="dcterms:W3CDTF">2026-06-28T11:36:17.4130000Z</dcterms:modified>
</coreProperties>
</file>