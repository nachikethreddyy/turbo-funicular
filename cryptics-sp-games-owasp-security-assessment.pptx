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31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slides/slide20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theme/theme2.xml" ContentType="application/vnd.openxmlformats-officedocument.them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</p:sldIdLst>
  <p:sldSz cx="12192000" cy="6858000"/>
  <p:notesSz cx="6858000" cy="9144000"/>
  <p:defaultTextStyle>
    <a:defPPr>
      <a:defRPr lang="en-US"/>
    </a:defPPr>
    <a:lvl1pPr marL="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0"/>
          <a:sy n="0" d="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 /><Relationship Id="rId38" Type="http://schemas.openxmlformats.org/officeDocument/2006/relationships/tableStyles" Target="tableStyles.xml" /><Relationship Id="rId3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491646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184001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55963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526678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07431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378735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86633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7512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66922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66667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3559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771717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12229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50426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500165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18158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4398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43543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55289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65775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38514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5111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989458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31628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14902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47915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27001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4588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64136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663203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80808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413434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00461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97803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1228913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897628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41778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23836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27691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79291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395905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67301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73947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39074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95610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05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67670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50503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44650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41112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94578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26106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79390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91759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8599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939777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8827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51935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340453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05682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90484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147233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3514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335849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68075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630882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10668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23641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14348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68686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089583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42366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98601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585532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22199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275845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634387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64678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39850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648824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82649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26139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9345800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082760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279569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793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226682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71998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468546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12898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489110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905616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740364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253048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22137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3577210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6389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27122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32463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61839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6400361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12148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aster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735824" name=""/>
          <p:cNvSpPr>
            <a:spLocks noGrp="1"/>
          </p:cNvSpPr>
          <p:nvPr/>
        </p:nvSpPr>
        <p:spPr bwMode="auto">
          <a:xfrm>
            <a:off x="552450" y="476250"/>
            <a:ext cx="11087100" cy="857250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61118819" name=""/>
          <p:cNvSpPr>
            <a:spLocks noGrp="1"/>
          </p:cNvSpPr>
          <p:nvPr/>
        </p:nvSpPr>
        <p:spPr bwMode="auto">
          <a:xfrm>
            <a:off x="781050" y="74295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CRYPTICS</a:t>
            </a:r>
            <a:endParaRPr/>
          </a:p>
        </p:txBody>
      </p:sp>
      <p:sp>
        <p:nvSpPr>
          <p:cNvPr id="685021331" name=""/>
          <p:cNvSpPr>
            <a:spLocks noGrp="1"/>
          </p:cNvSpPr>
          <p:nvPr/>
        </p:nvSpPr>
        <p:spPr bwMode="auto">
          <a:xfrm>
            <a:off x="8210550" y="7810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D1D5DB"/>
                </a:solidFill>
              </a:defRPr>
            </a:pPr>
            <a:r>
              <a:rPr sz="1350" b="0">
                <a:solidFill>
                  <a:srgbClr val="D1D5DB"/>
                </a:solidFill>
              </a:rPr>
              <a:t>ST2515 Security Assessment</a:t>
            </a:r>
            <a:endParaRPr/>
          </a:p>
        </p:txBody>
      </p:sp>
      <p:sp>
        <p:nvSpPr>
          <p:cNvPr id="871686484" name=""/>
          <p:cNvSpPr>
            <a:spLocks noGrp="1"/>
          </p:cNvSpPr>
          <p:nvPr/>
        </p:nvSpPr>
        <p:spPr bwMode="auto">
          <a:xfrm>
            <a:off x="552450" y="2047875"/>
            <a:ext cx="781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0B0F19"/>
                </a:solidFill>
              </a:defRPr>
            </a:pPr>
            <a:r>
              <a:rPr sz="4350" b="1">
                <a:solidFill>
                  <a:srgbClr val="0B0F19"/>
                </a:solidFill>
              </a:rPr>
              <a:t>SP Games OWASP Security Assessment</a:t>
            </a:r>
            <a:endParaRPr/>
          </a:p>
        </p:txBody>
      </p:sp>
      <p:sp>
        <p:nvSpPr>
          <p:cNvPr id="252702124" name=""/>
          <p:cNvSpPr>
            <a:spLocks noGrp="1"/>
          </p:cNvSpPr>
          <p:nvPr/>
        </p:nvSpPr>
        <p:spPr bwMode="auto">
          <a:xfrm>
            <a:off x="552450" y="3733800"/>
            <a:ext cx="7429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A focused review of access control, design, injection, authentication, logging, and AWS deployment hardening.</a:t>
            </a:r>
            <a:endParaRPr/>
          </a:p>
        </p:txBody>
      </p:sp>
      <p:sp>
        <p:nvSpPr>
          <p:cNvPr id="1530962754" name=""/>
          <p:cNvSpPr>
            <a:spLocks noGrp="1"/>
          </p:cNvSpPr>
          <p:nvPr/>
        </p:nvSpPr>
        <p:spPr bwMode="auto">
          <a:xfrm>
            <a:off x="8715375" y="2095500"/>
            <a:ext cx="2381250" cy="23812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20845580" name=""/>
          <p:cNvSpPr>
            <a:spLocks noGrp="1"/>
          </p:cNvSpPr>
          <p:nvPr/>
        </p:nvSpPr>
        <p:spPr bwMode="auto">
          <a:xfrm>
            <a:off x="9096375" y="2362199"/>
            <a:ext cx="1619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850" b="1">
                <a:solidFill>
                  <a:srgbClr val="E85D2A"/>
                </a:solidFill>
              </a:defRPr>
            </a:pPr>
            <a:r>
              <a:rPr sz="5850" b="1">
                <a:solidFill>
                  <a:srgbClr val="E85D2A"/>
                </a:solidFill>
              </a:rPr>
              <a:t>5</a:t>
            </a:r>
            <a:endParaRPr/>
          </a:p>
        </p:txBody>
      </p:sp>
      <p:sp>
        <p:nvSpPr>
          <p:cNvPr id="1122840690" name=""/>
          <p:cNvSpPr>
            <a:spLocks noGrp="1"/>
          </p:cNvSpPr>
          <p:nvPr/>
        </p:nvSpPr>
        <p:spPr bwMode="auto">
          <a:xfrm>
            <a:off x="9001125" y="3276600"/>
            <a:ext cx="1809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OWASP categories covered</a:t>
            </a:r>
            <a:endParaRPr/>
          </a:p>
        </p:txBody>
      </p:sp>
      <p:sp>
        <p:nvSpPr>
          <p:cNvPr id="1171356020" name=""/>
          <p:cNvSpPr>
            <a:spLocks noGrp="1"/>
          </p:cNvSpPr>
          <p:nvPr/>
        </p:nvSpPr>
        <p:spPr bwMode="auto">
          <a:xfrm>
            <a:off x="552450" y="59055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4B5563"/>
                </a:solidFill>
              </a:defRPr>
            </a:pPr>
            <a:r>
              <a:rPr sz="1350" b="1">
                <a:solidFill>
                  <a:srgbClr val="4B5563"/>
                </a:solidFill>
              </a:rPr>
              <a:t>A01 · A04 · A03 · A07 · A09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463314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Opening</a:t>
            </a:r>
            <a:endParaRPr/>
          </a:p>
        </p:txBody>
      </p:sp>
      <p:sp>
        <p:nvSpPr>
          <p:cNvPr id="517051447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02</a:t>
            </a:r>
            <a:endParaRPr/>
          </a:p>
        </p:txBody>
      </p:sp>
      <p:sp>
        <p:nvSpPr>
          <p:cNvPr id="175125480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Today’s route</a:t>
            </a:r>
            <a:endParaRPr/>
          </a:p>
        </p:txBody>
      </p:sp>
      <p:sp>
        <p:nvSpPr>
          <p:cNvPr id="1962517854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63638794" name=""/>
          <p:cNvSpPr>
            <a:spLocks noGrp="1"/>
          </p:cNvSpPr>
          <p:nvPr/>
        </p:nvSpPr>
        <p:spPr bwMode="auto">
          <a:xfrm>
            <a:off x="552450" y="20002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01</a:t>
            </a:r>
            <a:endParaRPr/>
          </a:p>
        </p:txBody>
      </p:sp>
      <p:sp>
        <p:nvSpPr>
          <p:cNvPr id="590260522" name=""/>
          <p:cNvSpPr>
            <a:spLocks noGrp="1"/>
          </p:cNvSpPr>
          <p:nvPr/>
        </p:nvSpPr>
        <p:spPr bwMode="auto">
          <a:xfrm>
            <a:off x="1171575" y="2000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Executive Summary</a:t>
            </a:r>
            <a:endParaRPr/>
          </a:p>
        </p:txBody>
      </p:sp>
      <p:sp>
        <p:nvSpPr>
          <p:cNvPr id="1280354582" name=""/>
          <p:cNvSpPr>
            <a:spLocks noGrp="1"/>
          </p:cNvSpPr>
          <p:nvPr/>
        </p:nvSpPr>
        <p:spPr bwMode="auto">
          <a:xfrm>
            <a:off x="552450" y="27051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02</a:t>
            </a:r>
            <a:endParaRPr/>
          </a:p>
        </p:txBody>
      </p:sp>
      <p:sp>
        <p:nvSpPr>
          <p:cNvPr id="298474857" name=""/>
          <p:cNvSpPr>
            <a:spLocks noGrp="1"/>
          </p:cNvSpPr>
          <p:nvPr/>
        </p:nvSpPr>
        <p:spPr bwMode="auto">
          <a:xfrm>
            <a:off x="1171575" y="27051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Assessment Methodology</a:t>
            </a:r>
            <a:endParaRPr/>
          </a:p>
        </p:txBody>
      </p:sp>
      <p:sp>
        <p:nvSpPr>
          <p:cNvPr id="1450357981" name=""/>
          <p:cNvSpPr>
            <a:spLocks noGrp="1"/>
          </p:cNvSpPr>
          <p:nvPr/>
        </p:nvSpPr>
        <p:spPr bwMode="auto">
          <a:xfrm>
            <a:off x="552450" y="34099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03</a:t>
            </a:r>
            <a:endParaRPr/>
          </a:p>
        </p:txBody>
      </p:sp>
      <p:sp>
        <p:nvSpPr>
          <p:cNvPr id="608249780" name=""/>
          <p:cNvSpPr>
            <a:spLocks noGrp="1"/>
          </p:cNvSpPr>
          <p:nvPr/>
        </p:nvSpPr>
        <p:spPr bwMode="auto">
          <a:xfrm>
            <a:off x="1171575" y="34099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A01 — Broken Access Control</a:t>
            </a:r>
            <a:endParaRPr/>
          </a:p>
        </p:txBody>
      </p:sp>
      <p:sp>
        <p:nvSpPr>
          <p:cNvPr id="796304576" name=""/>
          <p:cNvSpPr>
            <a:spLocks noGrp="1"/>
          </p:cNvSpPr>
          <p:nvPr/>
        </p:nvSpPr>
        <p:spPr bwMode="auto">
          <a:xfrm>
            <a:off x="552450" y="41148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04</a:t>
            </a:r>
            <a:endParaRPr/>
          </a:p>
        </p:txBody>
      </p:sp>
      <p:sp>
        <p:nvSpPr>
          <p:cNvPr id="1187261556" name=""/>
          <p:cNvSpPr>
            <a:spLocks noGrp="1"/>
          </p:cNvSpPr>
          <p:nvPr/>
        </p:nvSpPr>
        <p:spPr bwMode="auto">
          <a:xfrm>
            <a:off x="1171575" y="41148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A04 — Insecure Design</a:t>
            </a:r>
            <a:endParaRPr/>
          </a:p>
        </p:txBody>
      </p:sp>
      <p:sp>
        <p:nvSpPr>
          <p:cNvPr id="1013822235" name=""/>
          <p:cNvSpPr>
            <a:spLocks noGrp="1"/>
          </p:cNvSpPr>
          <p:nvPr/>
        </p:nvSpPr>
        <p:spPr bwMode="auto">
          <a:xfrm>
            <a:off x="552450" y="48196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05</a:t>
            </a:r>
            <a:endParaRPr/>
          </a:p>
        </p:txBody>
      </p:sp>
      <p:sp>
        <p:nvSpPr>
          <p:cNvPr id="321297847" name=""/>
          <p:cNvSpPr>
            <a:spLocks noGrp="1"/>
          </p:cNvSpPr>
          <p:nvPr/>
        </p:nvSpPr>
        <p:spPr bwMode="auto">
          <a:xfrm>
            <a:off x="1171575" y="48196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A03 — Injection</a:t>
            </a:r>
            <a:endParaRPr/>
          </a:p>
        </p:txBody>
      </p:sp>
      <p:sp>
        <p:nvSpPr>
          <p:cNvPr id="718917441" name=""/>
          <p:cNvSpPr>
            <a:spLocks noGrp="1"/>
          </p:cNvSpPr>
          <p:nvPr/>
        </p:nvSpPr>
        <p:spPr bwMode="auto">
          <a:xfrm>
            <a:off x="6267450" y="20002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06</a:t>
            </a:r>
            <a:endParaRPr/>
          </a:p>
        </p:txBody>
      </p:sp>
      <p:sp>
        <p:nvSpPr>
          <p:cNvPr id="1656688690" name=""/>
          <p:cNvSpPr>
            <a:spLocks noGrp="1"/>
          </p:cNvSpPr>
          <p:nvPr/>
        </p:nvSpPr>
        <p:spPr bwMode="auto">
          <a:xfrm>
            <a:off x="6886575" y="20002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A07 — Authentication Failures</a:t>
            </a:r>
            <a:endParaRPr/>
          </a:p>
        </p:txBody>
      </p:sp>
      <p:sp>
        <p:nvSpPr>
          <p:cNvPr id="1903870833" name=""/>
          <p:cNvSpPr>
            <a:spLocks noGrp="1"/>
          </p:cNvSpPr>
          <p:nvPr/>
        </p:nvSpPr>
        <p:spPr bwMode="auto">
          <a:xfrm>
            <a:off x="6267450" y="27051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07</a:t>
            </a:r>
            <a:endParaRPr/>
          </a:p>
        </p:txBody>
      </p:sp>
      <p:sp>
        <p:nvSpPr>
          <p:cNvPr id="971616443" name=""/>
          <p:cNvSpPr>
            <a:spLocks noGrp="1"/>
          </p:cNvSpPr>
          <p:nvPr/>
        </p:nvSpPr>
        <p:spPr bwMode="auto">
          <a:xfrm>
            <a:off x="6886575" y="27051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A09 — Logging &amp; Monitoring Failures</a:t>
            </a:r>
            <a:endParaRPr/>
          </a:p>
        </p:txBody>
      </p:sp>
      <p:sp>
        <p:nvSpPr>
          <p:cNvPr id="1660812912" name=""/>
          <p:cNvSpPr>
            <a:spLocks noGrp="1"/>
          </p:cNvSpPr>
          <p:nvPr/>
        </p:nvSpPr>
        <p:spPr bwMode="auto">
          <a:xfrm>
            <a:off x="6267450" y="34099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08</a:t>
            </a:r>
            <a:endParaRPr/>
          </a:p>
        </p:txBody>
      </p:sp>
      <p:sp>
        <p:nvSpPr>
          <p:cNvPr id="700367606" name=""/>
          <p:cNvSpPr>
            <a:spLocks noGrp="1"/>
          </p:cNvSpPr>
          <p:nvPr/>
        </p:nvSpPr>
        <p:spPr bwMode="auto">
          <a:xfrm>
            <a:off x="6886575" y="340995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AWS Deployment</a:t>
            </a:r>
            <a:endParaRPr/>
          </a:p>
        </p:txBody>
      </p:sp>
      <p:sp>
        <p:nvSpPr>
          <p:cNvPr id="684640921" name=""/>
          <p:cNvSpPr>
            <a:spLocks noGrp="1"/>
          </p:cNvSpPr>
          <p:nvPr/>
        </p:nvSpPr>
        <p:spPr bwMode="auto">
          <a:xfrm>
            <a:off x="6267450" y="41148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E85D2A"/>
                </a:solidFill>
              </a:defRPr>
            </a:pPr>
            <a:r>
              <a:rPr sz="1500" b="1">
                <a:solidFill>
                  <a:srgbClr val="E85D2A"/>
                </a:solidFill>
              </a:rPr>
              <a:t>09</a:t>
            </a:r>
            <a:endParaRPr/>
          </a:p>
        </p:txBody>
      </p:sp>
      <p:sp>
        <p:nvSpPr>
          <p:cNvPr id="1096216429" name=""/>
          <p:cNvSpPr>
            <a:spLocks noGrp="1"/>
          </p:cNvSpPr>
          <p:nvPr/>
        </p:nvSpPr>
        <p:spPr bwMode="auto">
          <a:xfrm>
            <a:off x="6886575" y="41148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B0F19"/>
                </a:solidFill>
              </a:defRPr>
            </a:pPr>
            <a:r>
              <a:rPr sz="1900" b="1">
                <a:solidFill>
                  <a:srgbClr val="0B0F19"/>
                </a:solidFill>
              </a:rPr>
              <a:t>Conclusion &amp; Live Demo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065853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Opening</a:t>
            </a:r>
            <a:endParaRPr/>
          </a:p>
        </p:txBody>
      </p:sp>
      <p:sp>
        <p:nvSpPr>
          <p:cNvPr id="330752882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03</a:t>
            </a:r>
            <a:endParaRPr/>
          </a:p>
        </p:txBody>
      </p:sp>
      <p:sp>
        <p:nvSpPr>
          <p:cNvPr id="110143030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Executive summary</a:t>
            </a:r>
            <a:endParaRPr/>
          </a:p>
        </p:txBody>
      </p:sp>
      <p:sp>
        <p:nvSpPr>
          <p:cNvPr id="1384333131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154315048" name=""/>
          <p:cNvSpPr>
            <a:spLocks noGrp="1"/>
          </p:cNvSpPr>
          <p:nvPr/>
        </p:nvSpPr>
        <p:spPr bwMode="auto">
          <a:xfrm>
            <a:off x="552450" y="2000250"/>
            <a:ext cx="3143250" cy="1381125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14300419" name=""/>
          <p:cNvSpPr>
            <a:spLocks noGrp="1"/>
          </p:cNvSpPr>
          <p:nvPr/>
        </p:nvSpPr>
        <p:spPr bwMode="auto">
          <a:xfrm>
            <a:off x="781050" y="2238375"/>
            <a:ext cx="2667000" cy="5905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B0F19"/>
                </a:solidFill>
              </a:defRPr>
            </a:pPr>
            <a:r>
              <a:rPr sz="3600" b="1">
                <a:solidFill>
                  <a:srgbClr val="0B0F19"/>
                </a:solidFill>
              </a:rPr>
              <a:t>14+</a:t>
            </a:r>
            <a:endParaRPr/>
          </a:p>
        </p:txBody>
      </p:sp>
      <p:sp>
        <p:nvSpPr>
          <p:cNvPr id="1648813912" name=""/>
          <p:cNvSpPr>
            <a:spLocks noGrp="1"/>
          </p:cNvSpPr>
          <p:nvPr/>
        </p:nvSpPr>
        <p:spPr bwMode="auto">
          <a:xfrm>
            <a:off x="800100" y="2857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findings</a:t>
            </a:r>
            <a:endParaRPr/>
          </a:p>
        </p:txBody>
      </p:sp>
      <p:sp>
        <p:nvSpPr>
          <p:cNvPr id="764374697" name=""/>
          <p:cNvSpPr>
            <a:spLocks noGrp="1"/>
          </p:cNvSpPr>
          <p:nvPr/>
        </p:nvSpPr>
        <p:spPr bwMode="auto">
          <a:xfrm>
            <a:off x="4267200" y="2000250"/>
            <a:ext cx="3143250" cy="1381125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01849035" name=""/>
          <p:cNvSpPr>
            <a:spLocks noGrp="1"/>
          </p:cNvSpPr>
          <p:nvPr/>
        </p:nvSpPr>
        <p:spPr bwMode="auto">
          <a:xfrm>
            <a:off x="4495800" y="2238375"/>
            <a:ext cx="2667000" cy="5905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0B0F19"/>
                </a:solidFill>
              </a:defRPr>
            </a:pPr>
            <a:r>
              <a:rPr sz="3600" b="1">
                <a:solidFill>
                  <a:srgbClr val="0B0F19"/>
                </a:solidFill>
              </a:rPr>
              <a:t>5</a:t>
            </a:r>
            <a:endParaRPr/>
          </a:p>
        </p:txBody>
      </p:sp>
      <p:sp>
        <p:nvSpPr>
          <p:cNvPr id="1323508953" name=""/>
          <p:cNvSpPr>
            <a:spLocks noGrp="1"/>
          </p:cNvSpPr>
          <p:nvPr/>
        </p:nvSpPr>
        <p:spPr bwMode="auto">
          <a:xfrm>
            <a:off x="4514850" y="2857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OWASP categories</a:t>
            </a:r>
            <a:endParaRPr/>
          </a:p>
        </p:txBody>
      </p:sp>
      <p:sp>
        <p:nvSpPr>
          <p:cNvPr id="493618415" name=""/>
          <p:cNvSpPr>
            <a:spLocks noGrp="1"/>
          </p:cNvSpPr>
          <p:nvPr/>
        </p:nvSpPr>
        <p:spPr bwMode="auto">
          <a:xfrm>
            <a:off x="7981950" y="2000250"/>
            <a:ext cx="3143250" cy="138112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11601073" name=""/>
          <p:cNvSpPr>
            <a:spLocks noGrp="1"/>
          </p:cNvSpPr>
          <p:nvPr/>
        </p:nvSpPr>
        <p:spPr bwMode="auto">
          <a:xfrm>
            <a:off x="8210550" y="2238375"/>
            <a:ext cx="2667000" cy="5905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B91C1C"/>
                </a:solidFill>
              </a:defRPr>
            </a:pPr>
            <a:r>
              <a:rPr sz="3600" b="1">
                <a:solidFill>
                  <a:srgbClr val="B91C1C"/>
                </a:solidFill>
              </a:rPr>
              <a:t>Critical</a:t>
            </a:r>
            <a:endParaRPr/>
          </a:p>
        </p:txBody>
      </p:sp>
      <p:sp>
        <p:nvSpPr>
          <p:cNvPr id="813078685" name=""/>
          <p:cNvSpPr>
            <a:spLocks noGrp="1"/>
          </p:cNvSpPr>
          <p:nvPr/>
        </p:nvSpPr>
        <p:spPr bwMode="auto">
          <a:xfrm>
            <a:off x="8229600" y="28575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combined pre-fix risk</a:t>
            </a:r>
            <a:endParaRPr/>
          </a:p>
        </p:txBody>
      </p:sp>
      <p:sp>
        <p:nvSpPr>
          <p:cNvPr id="1205034338" name=""/>
          <p:cNvSpPr>
            <a:spLocks noGrp="1"/>
          </p:cNvSpPr>
          <p:nvPr/>
        </p:nvSpPr>
        <p:spPr bwMode="auto">
          <a:xfrm>
            <a:off x="552450" y="40005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594247935" name=""/>
          <p:cNvSpPr>
            <a:spLocks noGrp="1"/>
          </p:cNvSpPr>
          <p:nvPr/>
        </p:nvSpPr>
        <p:spPr bwMode="auto">
          <a:xfrm>
            <a:off x="857250" y="4000500"/>
            <a:ext cx="1007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Before fixes, weak trust boundaries allowed privilege escalation, data exposure, and database manipulation.</a:t>
            </a:r>
            <a:endParaRPr/>
          </a:p>
        </p:txBody>
      </p:sp>
      <p:sp>
        <p:nvSpPr>
          <p:cNvPr id="1665855544" name=""/>
          <p:cNvSpPr>
            <a:spLocks noGrp="1"/>
          </p:cNvSpPr>
          <p:nvPr/>
        </p:nvSpPr>
        <p:spPr bwMode="auto">
          <a:xfrm>
            <a:off x="552450" y="45910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581025531" name=""/>
          <p:cNvSpPr>
            <a:spLocks noGrp="1"/>
          </p:cNvSpPr>
          <p:nvPr/>
        </p:nvSpPr>
        <p:spPr bwMode="auto">
          <a:xfrm>
            <a:off x="857250" y="4591050"/>
            <a:ext cx="1007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After fixes, the app moves critical checks server-side and reduces exploitability with parameterised SQL, Cognito, secrets management, and audit logging.</a:t>
            </a:r>
            <a:endParaRPr/>
          </a:p>
        </p:txBody>
      </p:sp>
      <p:sp>
        <p:nvSpPr>
          <p:cNvPr id="1700753403" name=""/>
          <p:cNvSpPr>
            <a:spLocks noGrp="1"/>
          </p:cNvSpPr>
          <p:nvPr/>
        </p:nvSpPr>
        <p:spPr bwMode="auto">
          <a:xfrm>
            <a:off x="552450" y="51816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976474394" name=""/>
          <p:cNvSpPr>
            <a:spLocks noGrp="1"/>
          </p:cNvSpPr>
          <p:nvPr/>
        </p:nvSpPr>
        <p:spPr bwMode="auto">
          <a:xfrm>
            <a:off x="857250" y="5181600"/>
            <a:ext cx="1007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Demo focuses on blocked privilege escalation, protected admin routes, safer payload handling, and production deployment evidence.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985967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A01</a:t>
            </a:r>
            <a:endParaRPr/>
          </a:p>
        </p:txBody>
      </p:sp>
      <p:sp>
        <p:nvSpPr>
          <p:cNvPr id="544380825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05</a:t>
            </a:r>
            <a:endParaRPr/>
          </a:p>
        </p:txBody>
      </p:sp>
      <p:sp>
        <p:nvSpPr>
          <p:cNvPr id="1362634179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Broken Access Control</a:t>
            </a:r>
            <a:endParaRPr/>
          </a:p>
        </p:txBody>
      </p:sp>
      <p:sp>
        <p:nvSpPr>
          <p:cNvPr id="835621356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429741801" name=""/>
          <p:cNvSpPr>
            <a:spLocks noGrp="1"/>
          </p:cNvSpPr>
          <p:nvPr/>
        </p:nvSpPr>
        <p:spPr bwMode="auto">
          <a:xfrm>
            <a:off x="552450" y="200025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Users can act outside their intended permissions.</a:t>
            </a:r>
            <a:endParaRPr/>
          </a:p>
        </p:txBody>
      </p:sp>
      <p:sp>
        <p:nvSpPr>
          <p:cNvPr id="243249260" name=""/>
          <p:cNvSpPr>
            <a:spLocks noGrp="1"/>
          </p:cNvSpPr>
          <p:nvPr/>
        </p:nvSpPr>
        <p:spPr bwMode="auto">
          <a:xfrm>
            <a:off x="6286500" y="2000250"/>
            <a:ext cx="4762500" cy="23812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61179930" name=""/>
          <p:cNvSpPr>
            <a:spLocks noGrp="1"/>
          </p:cNvSpPr>
          <p:nvPr/>
        </p:nvSpPr>
        <p:spPr bwMode="auto">
          <a:xfrm>
            <a:off x="6572250" y="2266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  <a:endParaRPr/>
          </a:p>
        </p:txBody>
      </p:sp>
      <p:sp>
        <p:nvSpPr>
          <p:cNvPr id="427298754" name=""/>
          <p:cNvSpPr>
            <a:spLocks noGrp="1"/>
          </p:cNvSpPr>
          <p:nvPr/>
        </p:nvSpPr>
        <p:spPr bwMode="auto">
          <a:xfrm>
            <a:off x="6572250" y="2819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608180874" name=""/>
          <p:cNvSpPr>
            <a:spLocks noGrp="1"/>
          </p:cNvSpPr>
          <p:nvPr/>
        </p:nvSpPr>
        <p:spPr bwMode="auto">
          <a:xfrm>
            <a:off x="6877050" y="28194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Missing server-side verifyToken / requireAdmin</a:t>
            </a:r>
            <a:endParaRPr/>
          </a:p>
        </p:txBody>
      </p:sp>
      <p:sp>
        <p:nvSpPr>
          <p:cNvPr id="1967984657" name=""/>
          <p:cNvSpPr>
            <a:spLocks noGrp="1"/>
          </p:cNvSpPr>
          <p:nvPr/>
        </p:nvSpPr>
        <p:spPr bwMode="auto">
          <a:xfrm>
            <a:off x="6572250" y="33718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26213375" name=""/>
          <p:cNvSpPr>
            <a:spLocks noGrp="1"/>
          </p:cNvSpPr>
          <p:nvPr/>
        </p:nvSpPr>
        <p:spPr bwMode="auto">
          <a:xfrm>
            <a:off x="6877050" y="33718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Client CSS hides admin UI only</a:t>
            </a:r>
            <a:endParaRPr/>
          </a:p>
        </p:txBody>
      </p:sp>
      <p:sp>
        <p:nvSpPr>
          <p:cNvPr id="1244739224" name=""/>
          <p:cNvSpPr>
            <a:spLocks noGrp="1"/>
          </p:cNvSpPr>
          <p:nvPr/>
        </p:nvSpPr>
        <p:spPr bwMode="auto">
          <a:xfrm>
            <a:off x="6572250" y="3924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565482167" name=""/>
          <p:cNvSpPr>
            <a:spLocks noGrp="1"/>
          </p:cNvSpPr>
          <p:nvPr/>
        </p:nvSpPr>
        <p:spPr bwMode="auto">
          <a:xfrm>
            <a:off x="6877050" y="39243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JWT secret and API exposure widen blast radius</a:t>
            </a:r>
            <a:endParaRPr/>
          </a:p>
        </p:txBody>
      </p:sp>
      <p:sp>
        <p:nvSpPr>
          <p:cNvPr id="1075018761" name=""/>
          <p:cNvSpPr>
            <a:spLocks noGrp="1"/>
          </p:cNvSpPr>
          <p:nvPr/>
        </p:nvSpPr>
        <p:spPr bwMode="auto">
          <a:xfrm>
            <a:off x="552450" y="4810125"/>
            <a:ext cx="1000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For SP Games, this means a regular or unauthenticated user could perform admin-level actions.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213000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A01</a:t>
            </a:r>
            <a:endParaRPr/>
          </a:p>
        </p:txBody>
      </p:sp>
      <p:sp>
        <p:nvSpPr>
          <p:cNvPr id="412496215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06</a:t>
            </a:r>
            <a:endParaRPr/>
          </a:p>
        </p:txBody>
      </p:sp>
      <p:sp>
        <p:nvSpPr>
          <p:cNvPr id="691500860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Broken Access Control findings</a:t>
            </a:r>
            <a:endParaRPr/>
          </a:p>
        </p:txBody>
      </p:sp>
      <p:sp>
        <p:nvSpPr>
          <p:cNvPr id="1163414212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28382761" name=""/>
          <p:cNvSpPr>
            <a:spLocks noGrp="1"/>
          </p:cNvSpPr>
          <p:nvPr/>
        </p:nvSpPr>
        <p:spPr bwMode="auto">
          <a:xfrm>
            <a:off x="552450" y="20478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32904759" name=""/>
          <p:cNvSpPr>
            <a:spLocks noGrp="1"/>
          </p:cNvSpPr>
          <p:nvPr/>
        </p:nvSpPr>
        <p:spPr bwMode="auto">
          <a:xfrm>
            <a:off x="762000" y="21907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2126125692" name=""/>
          <p:cNvSpPr>
            <a:spLocks noGrp="1"/>
          </p:cNvSpPr>
          <p:nvPr/>
        </p:nvSpPr>
        <p:spPr bwMode="auto">
          <a:xfrm>
            <a:off x="2124075" y="21717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Unprotected API endpoints</a:t>
            </a:r>
            <a:endParaRPr/>
          </a:p>
        </p:txBody>
      </p:sp>
      <p:sp>
        <p:nvSpPr>
          <p:cNvPr id="886971342" name=""/>
          <p:cNvSpPr>
            <a:spLocks noGrp="1"/>
          </p:cNvSpPr>
          <p:nvPr/>
        </p:nvSpPr>
        <p:spPr bwMode="auto">
          <a:xfrm>
            <a:off x="552450" y="2790824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27178233" name=""/>
          <p:cNvSpPr>
            <a:spLocks noGrp="1"/>
          </p:cNvSpPr>
          <p:nvPr/>
        </p:nvSpPr>
        <p:spPr bwMode="auto">
          <a:xfrm>
            <a:off x="762000" y="2933699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058501140" name=""/>
          <p:cNvSpPr>
            <a:spLocks noGrp="1"/>
          </p:cNvSpPr>
          <p:nvPr/>
        </p:nvSpPr>
        <p:spPr bwMode="auto">
          <a:xfrm>
            <a:off x="2124075" y="29146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GET /users returns plaintext passwords</a:t>
            </a:r>
            <a:endParaRPr/>
          </a:p>
        </p:txBody>
      </p:sp>
      <p:sp>
        <p:nvSpPr>
          <p:cNvPr id="1300961201" name=""/>
          <p:cNvSpPr>
            <a:spLocks noGrp="1"/>
          </p:cNvSpPr>
          <p:nvPr/>
        </p:nvSpPr>
        <p:spPr bwMode="auto">
          <a:xfrm>
            <a:off x="552450" y="35337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92593088" name=""/>
          <p:cNvSpPr>
            <a:spLocks noGrp="1"/>
          </p:cNvSpPr>
          <p:nvPr/>
        </p:nvSpPr>
        <p:spPr bwMode="auto">
          <a:xfrm>
            <a:off x="762000" y="36766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419510146" name=""/>
          <p:cNvSpPr>
            <a:spLocks noGrp="1"/>
          </p:cNvSpPr>
          <p:nvPr/>
        </p:nvSpPr>
        <p:spPr bwMode="auto">
          <a:xfrm>
            <a:off x="2124075" y="36576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Hardcoded JWT secret: Assignment2key</a:t>
            </a:r>
            <a:endParaRPr/>
          </a:p>
        </p:txBody>
      </p:sp>
      <p:sp>
        <p:nvSpPr>
          <p:cNvPr id="224958881" name=""/>
          <p:cNvSpPr>
            <a:spLocks noGrp="1"/>
          </p:cNvSpPr>
          <p:nvPr/>
        </p:nvSpPr>
        <p:spPr bwMode="auto">
          <a:xfrm>
            <a:off x="552450" y="4276725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0706023" name=""/>
          <p:cNvSpPr>
            <a:spLocks noGrp="1"/>
          </p:cNvSpPr>
          <p:nvPr/>
        </p:nvSpPr>
        <p:spPr bwMode="auto">
          <a:xfrm>
            <a:off x="762000" y="441960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636744887" name=""/>
          <p:cNvSpPr>
            <a:spLocks noGrp="1"/>
          </p:cNvSpPr>
          <p:nvPr/>
        </p:nvSpPr>
        <p:spPr bwMode="auto">
          <a:xfrm>
            <a:off x="2124075" y="44005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SQL injection supports access-control bypass evidence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014441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A01</a:t>
            </a:r>
            <a:endParaRPr/>
          </a:p>
        </p:txBody>
      </p:sp>
      <p:sp>
        <p:nvSpPr>
          <p:cNvPr id="764495226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07</a:t>
            </a:r>
            <a:endParaRPr/>
          </a:p>
        </p:txBody>
      </p:sp>
      <p:sp>
        <p:nvSpPr>
          <p:cNvPr id="609135375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  <a:endParaRPr/>
          </a:p>
        </p:txBody>
      </p:sp>
      <p:sp>
        <p:nvSpPr>
          <p:cNvPr id="623065575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589118460" name=""/>
          <p:cNvSpPr>
            <a:spLocks noGrp="1"/>
          </p:cNvSpPr>
          <p:nvPr/>
        </p:nvSpPr>
        <p:spPr bwMode="auto">
          <a:xfrm>
            <a:off x="5524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  <a:endParaRPr/>
          </a:p>
        </p:txBody>
      </p:sp>
      <p:sp>
        <p:nvSpPr>
          <p:cNvPr id="217200610" name=""/>
          <p:cNvSpPr>
            <a:spLocks noGrp="1"/>
          </p:cNvSpPr>
          <p:nvPr/>
        </p:nvSpPr>
        <p:spPr bwMode="auto">
          <a:xfrm>
            <a:off x="5524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067571502" name=""/>
          <p:cNvSpPr>
            <a:spLocks noGrp="1"/>
          </p:cNvSpPr>
          <p:nvPr/>
        </p:nvSpPr>
        <p:spPr bwMode="auto">
          <a:xfrm>
            <a:off x="8572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Create admin without login</a:t>
            </a:r>
            <a:endParaRPr/>
          </a:p>
        </p:txBody>
      </p:sp>
      <p:sp>
        <p:nvSpPr>
          <p:cNvPr id="1150546454" name=""/>
          <p:cNvSpPr>
            <a:spLocks noGrp="1"/>
          </p:cNvSpPr>
          <p:nvPr/>
        </p:nvSpPr>
        <p:spPr bwMode="auto">
          <a:xfrm>
            <a:off x="5524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436416724" name=""/>
          <p:cNvSpPr>
            <a:spLocks noGrp="1"/>
          </p:cNvSpPr>
          <p:nvPr/>
        </p:nvSpPr>
        <p:spPr bwMode="auto">
          <a:xfrm>
            <a:off x="8572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Delete games or alter data</a:t>
            </a:r>
            <a:endParaRPr/>
          </a:p>
        </p:txBody>
      </p:sp>
      <p:sp>
        <p:nvSpPr>
          <p:cNvPr id="373645440" name=""/>
          <p:cNvSpPr>
            <a:spLocks noGrp="1"/>
          </p:cNvSpPr>
          <p:nvPr/>
        </p:nvSpPr>
        <p:spPr bwMode="auto">
          <a:xfrm>
            <a:off x="5524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052260618" name=""/>
          <p:cNvSpPr>
            <a:spLocks noGrp="1"/>
          </p:cNvSpPr>
          <p:nvPr/>
        </p:nvSpPr>
        <p:spPr bwMode="auto">
          <a:xfrm>
            <a:off x="8572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Read all passwords</a:t>
            </a:r>
            <a:endParaRPr/>
          </a:p>
        </p:txBody>
      </p:sp>
      <p:sp>
        <p:nvSpPr>
          <p:cNvPr id="1053088108" name=""/>
          <p:cNvSpPr>
            <a:spLocks noGrp="1"/>
          </p:cNvSpPr>
          <p:nvPr/>
        </p:nvSpPr>
        <p:spPr bwMode="auto">
          <a:xfrm>
            <a:off x="5524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948069362" name=""/>
          <p:cNvSpPr>
            <a:spLocks noGrp="1"/>
          </p:cNvSpPr>
          <p:nvPr/>
        </p:nvSpPr>
        <p:spPr bwMode="auto">
          <a:xfrm>
            <a:off x="8572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Forge admin JWTs</a:t>
            </a:r>
            <a:endParaRPr/>
          </a:p>
        </p:txBody>
      </p:sp>
      <p:sp>
        <p:nvSpPr>
          <p:cNvPr id="831586277" name=""/>
          <p:cNvSpPr>
            <a:spLocks noGrp="1"/>
          </p:cNvSpPr>
          <p:nvPr/>
        </p:nvSpPr>
        <p:spPr bwMode="auto">
          <a:xfrm>
            <a:off x="65722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  <a:endParaRPr/>
          </a:p>
        </p:txBody>
      </p:sp>
      <p:sp>
        <p:nvSpPr>
          <p:cNvPr id="1999769395" name=""/>
          <p:cNvSpPr>
            <a:spLocks noGrp="1"/>
          </p:cNvSpPr>
          <p:nvPr/>
        </p:nvSpPr>
        <p:spPr bwMode="auto">
          <a:xfrm>
            <a:off x="65722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43899767" name=""/>
          <p:cNvSpPr>
            <a:spLocks noGrp="1"/>
          </p:cNvSpPr>
          <p:nvPr/>
        </p:nvSpPr>
        <p:spPr bwMode="auto">
          <a:xfrm>
            <a:off x="68770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Auth middleware + RBAC</a:t>
            </a:r>
            <a:endParaRPr/>
          </a:p>
        </p:txBody>
      </p:sp>
      <p:sp>
        <p:nvSpPr>
          <p:cNvPr id="575049959" name=""/>
          <p:cNvSpPr>
            <a:spLocks noGrp="1"/>
          </p:cNvSpPr>
          <p:nvPr/>
        </p:nvSpPr>
        <p:spPr bwMode="auto">
          <a:xfrm>
            <a:off x="65722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25791883" name=""/>
          <p:cNvSpPr>
            <a:spLocks noGrp="1"/>
          </p:cNvSpPr>
          <p:nvPr/>
        </p:nvSpPr>
        <p:spPr bwMode="auto">
          <a:xfrm>
            <a:off x="68770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Remove passwords from API responses</a:t>
            </a:r>
            <a:endParaRPr/>
          </a:p>
        </p:txBody>
      </p:sp>
      <p:sp>
        <p:nvSpPr>
          <p:cNvPr id="1638748450" name=""/>
          <p:cNvSpPr>
            <a:spLocks noGrp="1"/>
          </p:cNvSpPr>
          <p:nvPr/>
        </p:nvSpPr>
        <p:spPr bwMode="auto">
          <a:xfrm>
            <a:off x="65722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11897941" name=""/>
          <p:cNvSpPr>
            <a:spLocks noGrp="1"/>
          </p:cNvSpPr>
          <p:nvPr/>
        </p:nvSpPr>
        <p:spPr bwMode="auto">
          <a:xfrm>
            <a:off x="68770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JWT_SECRET from environment</a:t>
            </a:r>
            <a:endParaRPr/>
          </a:p>
        </p:txBody>
      </p:sp>
      <p:sp>
        <p:nvSpPr>
          <p:cNvPr id="1696928997" name=""/>
          <p:cNvSpPr>
            <a:spLocks noGrp="1"/>
          </p:cNvSpPr>
          <p:nvPr/>
        </p:nvSpPr>
        <p:spPr bwMode="auto">
          <a:xfrm>
            <a:off x="65722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877923121" name=""/>
          <p:cNvSpPr>
            <a:spLocks noGrp="1"/>
          </p:cNvSpPr>
          <p:nvPr/>
        </p:nvSpPr>
        <p:spPr bwMode="auto">
          <a:xfrm>
            <a:off x="68770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Parameterized SQL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0500828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A01</a:t>
            </a:r>
            <a:endParaRPr/>
          </a:p>
        </p:txBody>
      </p:sp>
      <p:sp>
        <p:nvSpPr>
          <p:cNvPr id="310170773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08</a:t>
            </a:r>
            <a:endParaRPr/>
          </a:p>
        </p:txBody>
      </p:sp>
      <p:sp>
        <p:nvSpPr>
          <p:cNvPr id="1386192537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Evidence and re-test</a:t>
            </a:r>
            <a:endParaRPr/>
          </a:p>
        </p:txBody>
      </p:sp>
      <p:sp>
        <p:nvSpPr>
          <p:cNvPr id="975132408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318045562" name=""/>
          <p:cNvSpPr>
            <a:spLocks noGrp="1"/>
          </p:cNvSpPr>
          <p:nvPr/>
        </p:nvSpPr>
        <p:spPr bwMode="auto">
          <a:xfrm>
            <a:off x="552450" y="2095500"/>
            <a:ext cx="4953000" cy="2667000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08245518" name=""/>
          <p:cNvSpPr>
            <a:spLocks noGrp="1"/>
          </p:cNvSpPr>
          <p:nvPr/>
        </p:nvSpPr>
        <p:spPr bwMode="auto">
          <a:xfrm>
            <a:off x="819150" y="236219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Evidence to show</a:t>
            </a:r>
            <a:endParaRPr/>
          </a:p>
        </p:txBody>
      </p:sp>
      <p:sp>
        <p:nvSpPr>
          <p:cNvPr id="1857845065" name=""/>
          <p:cNvSpPr>
            <a:spLocks noGrp="1"/>
          </p:cNvSpPr>
          <p:nvPr/>
        </p:nvSpPr>
        <p:spPr bwMode="auto">
          <a:xfrm>
            <a:off x="819150" y="295275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5E7EB"/>
                </a:solidFill>
              </a:defRPr>
            </a:pPr>
            <a:r>
              <a:rPr sz="1800" b="0">
                <a:solidFill>
                  <a:srgbClr val="E5E7EB"/>
                </a:solidFill>
              </a:rPr>
              <a:t>Bruno: create admin, delete game, fetch users with passwords.</a:t>
            </a:r>
            <a:endParaRPr/>
          </a:p>
        </p:txBody>
      </p:sp>
      <p:sp>
        <p:nvSpPr>
          <p:cNvPr id="647222873" name=""/>
          <p:cNvSpPr>
            <a:spLocks noGrp="1"/>
          </p:cNvSpPr>
          <p:nvPr/>
        </p:nvSpPr>
        <p:spPr bwMode="auto">
          <a:xfrm>
            <a:off x="6572250" y="2095500"/>
            <a:ext cx="4953000" cy="2667000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22746441" name=""/>
          <p:cNvSpPr>
            <a:spLocks noGrp="1"/>
          </p:cNvSpPr>
          <p:nvPr/>
        </p:nvSpPr>
        <p:spPr bwMode="auto">
          <a:xfrm>
            <a:off x="6858000" y="2362199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47857"/>
                </a:solidFill>
              </a:defRPr>
            </a:pPr>
            <a:r>
              <a:rPr sz="1900" b="1">
                <a:solidFill>
                  <a:srgbClr val="047857"/>
                </a:solidFill>
              </a:rPr>
              <a:t>After fix</a:t>
            </a:r>
            <a:endParaRPr/>
          </a:p>
        </p:txBody>
      </p:sp>
      <p:sp>
        <p:nvSpPr>
          <p:cNvPr id="1124381951" name=""/>
          <p:cNvSpPr>
            <a:spLocks noGrp="1"/>
          </p:cNvSpPr>
          <p:nvPr/>
        </p:nvSpPr>
        <p:spPr bwMode="auto">
          <a:xfrm>
            <a:off x="6858000" y="2952750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Protected routes return 401/403 and the server refuses to start without a secret.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444035" name=""/>
          <p:cNvSpPr>
            <a:spLocks noGrp="1"/>
          </p:cNvSpPr>
          <p:nvPr/>
        </p:nvSpPr>
        <p:spPr bwMode="auto">
          <a:xfrm>
            <a:off x="552449" y="323849"/>
            <a:ext cx="3429000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A01</a:t>
            </a:r>
            <a:endParaRPr/>
          </a:p>
        </p:txBody>
      </p:sp>
      <p:sp>
        <p:nvSpPr>
          <p:cNvPr id="997041026" name=""/>
          <p:cNvSpPr>
            <a:spLocks noGrp="1"/>
          </p:cNvSpPr>
          <p:nvPr/>
        </p:nvSpPr>
        <p:spPr bwMode="auto">
          <a:xfrm>
            <a:off x="11210924" y="323849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08</a:t>
            </a:r>
            <a:endParaRPr/>
          </a:p>
        </p:txBody>
      </p:sp>
      <p:sp>
        <p:nvSpPr>
          <p:cNvPr id="1644705264" name=""/>
          <p:cNvSpPr>
            <a:spLocks noGrp="1"/>
          </p:cNvSpPr>
          <p:nvPr/>
        </p:nvSpPr>
        <p:spPr bwMode="auto">
          <a:xfrm>
            <a:off x="552449" y="781049"/>
            <a:ext cx="11087100" cy="704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Evidence and re-test</a:t>
            </a:r>
            <a:endParaRPr/>
          </a:p>
        </p:txBody>
      </p:sp>
      <p:sp>
        <p:nvSpPr>
          <p:cNvPr id="1988130478" name=""/>
          <p:cNvSpPr>
            <a:spLocks noGrp="1"/>
          </p:cNvSpPr>
          <p:nvPr/>
        </p:nvSpPr>
        <p:spPr bwMode="auto">
          <a:xfrm>
            <a:off x="552449" y="1523999"/>
            <a:ext cx="11087100" cy="9524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706084875" name=""/>
          <p:cNvSpPr>
            <a:spLocks noGrp="1"/>
          </p:cNvSpPr>
          <p:nvPr/>
        </p:nvSpPr>
        <p:spPr bwMode="auto">
          <a:xfrm>
            <a:off x="552449" y="2095499"/>
            <a:ext cx="4952999" cy="2666999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97166416" name=""/>
          <p:cNvSpPr>
            <a:spLocks noGrp="1"/>
          </p:cNvSpPr>
          <p:nvPr/>
        </p:nvSpPr>
        <p:spPr bwMode="auto">
          <a:xfrm>
            <a:off x="819149" y="2362199"/>
            <a:ext cx="30479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Evidence to show</a:t>
            </a:r>
            <a:endParaRPr/>
          </a:p>
        </p:txBody>
      </p:sp>
      <p:sp>
        <p:nvSpPr>
          <p:cNvPr id="62085408" name=""/>
          <p:cNvSpPr>
            <a:spLocks noGrp="1"/>
          </p:cNvSpPr>
          <p:nvPr/>
        </p:nvSpPr>
        <p:spPr bwMode="auto">
          <a:xfrm>
            <a:off x="819149" y="2952749"/>
            <a:ext cx="4238624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5E7EB"/>
                </a:solidFill>
              </a:defRPr>
            </a:pPr>
            <a:r>
              <a:rPr sz="1800" b="0">
                <a:solidFill>
                  <a:srgbClr val="E5E7EB"/>
                </a:solidFill>
              </a:rPr>
              <a:t>Bruno: create admin, delete game, fetch users with passwords.</a:t>
            </a:r>
            <a:endParaRPr/>
          </a:p>
        </p:txBody>
      </p:sp>
      <p:sp>
        <p:nvSpPr>
          <p:cNvPr id="30584298" name=""/>
          <p:cNvSpPr>
            <a:spLocks noGrp="1"/>
          </p:cNvSpPr>
          <p:nvPr/>
        </p:nvSpPr>
        <p:spPr bwMode="auto">
          <a:xfrm>
            <a:off x="6572250" y="2095499"/>
            <a:ext cx="4952999" cy="2666999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53251382" name=""/>
          <p:cNvSpPr>
            <a:spLocks noGrp="1"/>
          </p:cNvSpPr>
          <p:nvPr/>
        </p:nvSpPr>
        <p:spPr bwMode="auto">
          <a:xfrm>
            <a:off x="6858000" y="2362199"/>
            <a:ext cx="26669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47857"/>
                </a:solidFill>
              </a:defRPr>
            </a:pPr>
            <a:r>
              <a:rPr sz="1900" b="1">
                <a:solidFill>
                  <a:srgbClr val="047857"/>
                </a:solidFill>
              </a:rPr>
              <a:t>After fix</a:t>
            </a:r>
            <a:endParaRPr/>
          </a:p>
        </p:txBody>
      </p:sp>
      <p:sp>
        <p:nvSpPr>
          <p:cNvPr id="967203461" name=""/>
          <p:cNvSpPr>
            <a:spLocks noGrp="1"/>
          </p:cNvSpPr>
          <p:nvPr/>
        </p:nvSpPr>
        <p:spPr bwMode="auto">
          <a:xfrm>
            <a:off x="6858000" y="2952749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Protected routes return 401/403 and the server refuses to start without a secret.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929462" name=""/>
          <p:cNvSpPr>
            <a:spLocks noGrp="1"/>
          </p:cNvSpPr>
          <p:nvPr/>
        </p:nvSpPr>
        <p:spPr bwMode="auto">
          <a:xfrm>
            <a:off x="552449" y="323849"/>
            <a:ext cx="3429000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A01</a:t>
            </a:r>
            <a:endParaRPr/>
          </a:p>
        </p:txBody>
      </p:sp>
      <p:sp>
        <p:nvSpPr>
          <p:cNvPr id="492546198" name=""/>
          <p:cNvSpPr>
            <a:spLocks noGrp="1"/>
          </p:cNvSpPr>
          <p:nvPr/>
        </p:nvSpPr>
        <p:spPr bwMode="auto">
          <a:xfrm>
            <a:off x="11210924" y="323849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08</a:t>
            </a:r>
            <a:endParaRPr/>
          </a:p>
        </p:txBody>
      </p:sp>
      <p:sp>
        <p:nvSpPr>
          <p:cNvPr id="1070791575" name=""/>
          <p:cNvSpPr>
            <a:spLocks noGrp="1"/>
          </p:cNvSpPr>
          <p:nvPr/>
        </p:nvSpPr>
        <p:spPr bwMode="auto">
          <a:xfrm>
            <a:off x="552449" y="781049"/>
            <a:ext cx="11087100" cy="704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Evidence and re-test</a:t>
            </a:r>
            <a:endParaRPr/>
          </a:p>
        </p:txBody>
      </p:sp>
      <p:sp>
        <p:nvSpPr>
          <p:cNvPr id="363326247" name=""/>
          <p:cNvSpPr>
            <a:spLocks noGrp="1"/>
          </p:cNvSpPr>
          <p:nvPr/>
        </p:nvSpPr>
        <p:spPr bwMode="auto">
          <a:xfrm>
            <a:off x="552449" y="1523999"/>
            <a:ext cx="11087100" cy="9524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389715429" name=""/>
          <p:cNvSpPr>
            <a:spLocks noGrp="1"/>
          </p:cNvSpPr>
          <p:nvPr/>
        </p:nvSpPr>
        <p:spPr bwMode="auto">
          <a:xfrm>
            <a:off x="552449" y="2095499"/>
            <a:ext cx="4952999" cy="2666999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81681478" name=""/>
          <p:cNvSpPr>
            <a:spLocks noGrp="1"/>
          </p:cNvSpPr>
          <p:nvPr/>
        </p:nvSpPr>
        <p:spPr bwMode="auto">
          <a:xfrm>
            <a:off x="819149" y="2362199"/>
            <a:ext cx="30479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Evidence to show</a:t>
            </a:r>
            <a:endParaRPr/>
          </a:p>
        </p:txBody>
      </p:sp>
      <p:sp>
        <p:nvSpPr>
          <p:cNvPr id="1707491828" name=""/>
          <p:cNvSpPr>
            <a:spLocks noGrp="1"/>
          </p:cNvSpPr>
          <p:nvPr/>
        </p:nvSpPr>
        <p:spPr bwMode="auto">
          <a:xfrm>
            <a:off x="819149" y="2952749"/>
            <a:ext cx="4238624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5E7EB"/>
                </a:solidFill>
              </a:defRPr>
            </a:pPr>
            <a:r>
              <a:rPr sz="1800" b="0">
                <a:solidFill>
                  <a:srgbClr val="E5E7EB"/>
                </a:solidFill>
              </a:rPr>
              <a:t>Bruno: create admin, delete game, fetch users with passwords.</a:t>
            </a:r>
            <a:endParaRPr/>
          </a:p>
        </p:txBody>
      </p:sp>
      <p:sp>
        <p:nvSpPr>
          <p:cNvPr id="467753645" name=""/>
          <p:cNvSpPr>
            <a:spLocks noGrp="1"/>
          </p:cNvSpPr>
          <p:nvPr/>
        </p:nvSpPr>
        <p:spPr bwMode="auto">
          <a:xfrm>
            <a:off x="6572250" y="2095499"/>
            <a:ext cx="4952999" cy="2666999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74644954" name=""/>
          <p:cNvSpPr>
            <a:spLocks noGrp="1"/>
          </p:cNvSpPr>
          <p:nvPr/>
        </p:nvSpPr>
        <p:spPr bwMode="auto">
          <a:xfrm>
            <a:off x="6858000" y="2362199"/>
            <a:ext cx="266699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47857"/>
                </a:solidFill>
              </a:defRPr>
            </a:pPr>
            <a:r>
              <a:rPr sz="1900" b="1">
                <a:solidFill>
                  <a:srgbClr val="047857"/>
                </a:solidFill>
              </a:rPr>
              <a:t>After fix</a:t>
            </a:r>
            <a:endParaRPr/>
          </a:p>
        </p:txBody>
      </p:sp>
      <p:sp>
        <p:nvSpPr>
          <p:cNvPr id="48783979" name=""/>
          <p:cNvSpPr>
            <a:spLocks noGrp="1"/>
          </p:cNvSpPr>
          <p:nvPr/>
        </p:nvSpPr>
        <p:spPr bwMode="auto">
          <a:xfrm>
            <a:off x="6858000" y="2952749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Protected routes return 401/403 and the server refuses to start without a secret.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114937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A04</a:t>
            </a:r>
            <a:endParaRPr/>
          </a:p>
        </p:txBody>
      </p:sp>
      <p:sp>
        <p:nvSpPr>
          <p:cNvPr id="595608049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09</a:t>
            </a:r>
            <a:endParaRPr/>
          </a:p>
        </p:txBody>
      </p:sp>
      <p:sp>
        <p:nvSpPr>
          <p:cNvPr id="238297791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Insecure Design</a:t>
            </a:r>
            <a:endParaRPr/>
          </a:p>
        </p:txBody>
      </p:sp>
      <p:sp>
        <p:nvSpPr>
          <p:cNvPr id="2033768274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43969259" name=""/>
          <p:cNvSpPr>
            <a:spLocks noGrp="1"/>
          </p:cNvSpPr>
          <p:nvPr/>
        </p:nvSpPr>
        <p:spPr bwMode="auto">
          <a:xfrm>
            <a:off x="552450" y="200025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The product design places trust in the wrong boundary.</a:t>
            </a:r>
            <a:endParaRPr/>
          </a:p>
        </p:txBody>
      </p:sp>
      <p:sp>
        <p:nvSpPr>
          <p:cNvPr id="1118844583" name=""/>
          <p:cNvSpPr>
            <a:spLocks noGrp="1"/>
          </p:cNvSpPr>
          <p:nvPr/>
        </p:nvSpPr>
        <p:spPr bwMode="auto">
          <a:xfrm>
            <a:off x="6286500" y="2000250"/>
            <a:ext cx="4762500" cy="23812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79624980" name=""/>
          <p:cNvSpPr>
            <a:spLocks noGrp="1"/>
          </p:cNvSpPr>
          <p:nvPr/>
        </p:nvSpPr>
        <p:spPr bwMode="auto">
          <a:xfrm>
            <a:off x="6572250" y="2266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  <a:endParaRPr/>
          </a:p>
        </p:txBody>
      </p:sp>
      <p:sp>
        <p:nvSpPr>
          <p:cNvPr id="998200098" name=""/>
          <p:cNvSpPr>
            <a:spLocks noGrp="1"/>
          </p:cNvSpPr>
          <p:nvPr/>
        </p:nvSpPr>
        <p:spPr bwMode="auto">
          <a:xfrm>
            <a:off x="6572250" y="2819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95358274" name=""/>
          <p:cNvSpPr>
            <a:spLocks noGrp="1"/>
          </p:cNvSpPr>
          <p:nvPr/>
        </p:nvSpPr>
        <p:spPr bwMode="auto">
          <a:xfrm>
            <a:off x="6877050" y="28194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Frontend decides admin visibility</a:t>
            </a:r>
            <a:endParaRPr/>
          </a:p>
        </p:txBody>
      </p:sp>
      <p:sp>
        <p:nvSpPr>
          <p:cNvPr id="2013513616" name=""/>
          <p:cNvSpPr>
            <a:spLocks noGrp="1"/>
          </p:cNvSpPr>
          <p:nvPr/>
        </p:nvSpPr>
        <p:spPr bwMode="auto">
          <a:xfrm>
            <a:off x="6572250" y="33718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93019864" name=""/>
          <p:cNvSpPr>
            <a:spLocks noGrp="1"/>
          </p:cNvSpPr>
          <p:nvPr/>
        </p:nvSpPr>
        <p:spPr bwMode="auto">
          <a:xfrm>
            <a:off x="6877050" y="33718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Registration accepts client-supplied type</a:t>
            </a:r>
            <a:endParaRPr/>
          </a:p>
        </p:txBody>
      </p:sp>
      <p:sp>
        <p:nvSpPr>
          <p:cNvPr id="2032976593" name=""/>
          <p:cNvSpPr>
            <a:spLocks noGrp="1"/>
          </p:cNvSpPr>
          <p:nvPr/>
        </p:nvSpPr>
        <p:spPr bwMode="auto">
          <a:xfrm>
            <a:off x="6572250" y="3924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130515530" name=""/>
          <p:cNvSpPr>
            <a:spLocks noGrp="1"/>
          </p:cNvSpPr>
          <p:nvPr/>
        </p:nvSpPr>
        <p:spPr bwMode="auto">
          <a:xfrm>
            <a:off x="6877050" y="39243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Direct API calls bypass UI controls</a:t>
            </a:r>
            <a:endParaRPr/>
          </a:p>
        </p:txBody>
      </p:sp>
      <p:sp>
        <p:nvSpPr>
          <p:cNvPr id="1070260234" name=""/>
          <p:cNvSpPr>
            <a:spLocks noGrp="1"/>
          </p:cNvSpPr>
          <p:nvPr/>
        </p:nvSpPr>
        <p:spPr bwMode="auto">
          <a:xfrm>
            <a:off x="552450" y="4810125"/>
            <a:ext cx="1000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The issue is not only a bug; the design allowed the browser to make authority decisions.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332587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A04</a:t>
            </a:r>
            <a:endParaRPr/>
          </a:p>
        </p:txBody>
      </p:sp>
      <p:sp>
        <p:nvSpPr>
          <p:cNvPr id="1122936759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10</a:t>
            </a:r>
            <a:endParaRPr/>
          </a:p>
        </p:txBody>
      </p:sp>
      <p:sp>
        <p:nvSpPr>
          <p:cNvPr id="563056392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Insecure Design findings</a:t>
            </a:r>
            <a:endParaRPr/>
          </a:p>
        </p:txBody>
      </p:sp>
      <p:sp>
        <p:nvSpPr>
          <p:cNvPr id="1413251465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230106401" name=""/>
          <p:cNvSpPr>
            <a:spLocks noGrp="1"/>
          </p:cNvSpPr>
          <p:nvPr/>
        </p:nvSpPr>
        <p:spPr bwMode="auto">
          <a:xfrm>
            <a:off x="552450" y="20478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21773028" name=""/>
          <p:cNvSpPr>
            <a:spLocks noGrp="1"/>
          </p:cNvSpPr>
          <p:nvPr/>
        </p:nvSpPr>
        <p:spPr bwMode="auto">
          <a:xfrm>
            <a:off x="762000" y="21907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232475717" name=""/>
          <p:cNvSpPr>
            <a:spLocks noGrp="1"/>
          </p:cNvSpPr>
          <p:nvPr/>
        </p:nvSpPr>
        <p:spPr bwMode="auto">
          <a:xfrm>
            <a:off x="2124075" y="21717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Frontend-only admin lock</a:t>
            </a:r>
            <a:endParaRPr/>
          </a:p>
        </p:txBody>
      </p:sp>
      <p:sp>
        <p:nvSpPr>
          <p:cNvPr id="1135792069" name=""/>
          <p:cNvSpPr>
            <a:spLocks noGrp="1"/>
          </p:cNvSpPr>
          <p:nvPr/>
        </p:nvSpPr>
        <p:spPr bwMode="auto">
          <a:xfrm>
            <a:off x="552450" y="2790824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78145911" name=""/>
          <p:cNvSpPr>
            <a:spLocks noGrp="1"/>
          </p:cNvSpPr>
          <p:nvPr/>
        </p:nvSpPr>
        <p:spPr bwMode="auto">
          <a:xfrm>
            <a:off x="762000" y="2933699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984402370" name=""/>
          <p:cNvSpPr>
            <a:spLocks noGrp="1"/>
          </p:cNvSpPr>
          <p:nvPr/>
        </p:nvSpPr>
        <p:spPr bwMode="auto">
          <a:xfrm>
            <a:off x="2124075" y="29146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Client-controlled role on POST /users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8610790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A04</a:t>
            </a:r>
            <a:endParaRPr/>
          </a:p>
        </p:txBody>
      </p:sp>
      <p:sp>
        <p:nvSpPr>
          <p:cNvPr id="1061191120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11</a:t>
            </a:r>
            <a:endParaRPr/>
          </a:p>
        </p:txBody>
      </p:sp>
      <p:sp>
        <p:nvSpPr>
          <p:cNvPr id="1109011833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  <a:endParaRPr/>
          </a:p>
        </p:txBody>
      </p:sp>
      <p:sp>
        <p:nvSpPr>
          <p:cNvPr id="1275367829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088170024" name=""/>
          <p:cNvSpPr>
            <a:spLocks noGrp="1"/>
          </p:cNvSpPr>
          <p:nvPr/>
        </p:nvSpPr>
        <p:spPr bwMode="auto">
          <a:xfrm>
            <a:off x="5524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  <a:endParaRPr/>
          </a:p>
        </p:txBody>
      </p:sp>
      <p:sp>
        <p:nvSpPr>
          <p:cNvPr id="677718388" name=""/>
          <p:cNvSpPr>
            <a:spLocks noGrp="1"/>
          </p:cNvSpPr>
          <p:nvPr/>
        </p:nvSpPr>
        <p:spPr bwMode="auto">
          <a:xfrm>
            <a:off x="5524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670331064" name=""/>
          <p:cNvSpPr>
            <a:spLocks noGrp="1"/>
          </p:cNvSpPr>
          <p:nvPr/>
        </p:nvSpPr>
        <p:spPr bwMode="auto">
          <a:xfrm>
            <a:off x="8572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Self-promotion to Admin</a:t>
            </a:r>
            <a:endParaRPr/>
          </a:p>
        </p:txBody>
      </p:sp>
      <p:sp>
        <p:nvSpPr>
          <p:cNvPr id="627801542" name=""/>
          <p:cNvSpPr>
            <a:spLocks noGrp="1"/>
          </p:cNvSpPr>
          <p:nvPr/>
        </p:nvSpPr>
        <p:spPr bwMode="auto">
          <a:xfrm>
            <a:off x="5524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588086001" name=""/>
          <p:cNvSpPr>
            <a:spLocks noGrp="1"/>
          </p:cNvSpPr>
          <p:nvPr/>
        </p:nvSpPr>
        <p:spPr bwMode="auto">
          <a:xfrm>
            <a:off x="8572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Admin UI bypassed via DevTools</a:t>
            </a:r>
            <a:endParaRPr/>
          </a:p>
        </p:txBody>
      </p:sp>
      <p:sp>
        <p:nvSpPr>
          <p:cNvPr id="1481581802" name=""/>
          <p:cNvSpPr>
            <a:spLocks noGrp="1"/>
          </p:cNvSpPr>
          <p:nvPr/>
        </p:nvSpPr>
        <p:spPr bwMode="auto">
          <a:xfrm>
            <a:off x="5524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86145395" name=""/>
          <p:cNvSpPr>
            <a:spLocks noGrp="1"/>
          </p:cNvSpPr>
          <p:nvPr/>
        </p:nvSpPr>
        <p:spPr bwMode="auto">
          <a:xfrm>
            <a:off x="8572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Direct API calls skip hidden controls</a:t>
            </a:r>
            <a:endParaRPr/>
          </a:p>
        </p:txBody>
      </p:sp>
      <p:sp>
        <p:nvSpPr>
          <p:cNvPr id="1075323279" name=""/>
          <p:cNvSpPr>
            <a:spLocks noGrp="1"/>
          </p:cNvSpPr>
          <p:nvPr/>
        </p:nvSpPr>
        <p:spPr bwMode="auto">
          <a:xfrm>
            <a:off x="65722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  <a:endParaRPr/>
          </a:p>
        </p:txBody>
      </p:sp>
      <p:sp>
        <p:nvSpPr>
          <p:cNvPr id="1605490949" name=""/>
          <p:cNvSpPr>
            <a:spLocks noGrp="1"/>
          </p:cNvSpPr>
          <p:nvPr/>
        </p:nvSpPr>
        <p:spPr bwMode="auto">
          <a:xfrm>
            <a:off x="65722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36177951" name=""/>
          <p:cNvSpPr>
            <a:spLocks noGrp="1"/>
          </p:cNvSpPr>
          <p:nvPr/>
        </p:nvSpPr>
        <p:spPr bwMode="auto">
          <a:xfrm>
            <a:off x="68770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Server assigns role</a:t>
            </a:r>
            <a:endParaRPr/>
          </a:p>
        </p:txBody>
      </p:sp>
      <p:sp>
        <p:nvSpPr>
          <p:cNvPr id="1268373344" name=""/>
          <p:cNvSpPr>
            <a:spLocks noGrp="1"/>
          </p:cNvSpPr>
          <p:nvPr/>
        </p:nvSpPr>
        <p:spPr bwMode="auto">
          <a:xfrm>
            <a:off x="65722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37641332" name=""/>
          <p:cNvSpPr>
            <a:spLocks noGrp="1"/>
          </p:cNvSpPr>
          <p:nvPr/>
        </p:nvSpPr>
        <p:spPr bwMode="auto">
          <a:xfrm>
            <a:off x="68770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requireAdmin on backend</a:t>
            </a:r>
            <a:endParaRPr/>
          </a:p>
        </p:txBody>
      </p:sp>
      <p:sp>
        <p:nvSpPr>
          <p:cNvPr id="1334433285" name=""/>
          <p:cNvSpPr>
            <a:spLocks noGrp="1"/>
          </p:cNvSpPr>
          <p:nvPr/>
        </p:nvSpPr>
        <p:spPr bwMode="auto">
          <a:xfrm>
            <a:off x="65722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53206534" name=""/>
          <p:cNvSpPr>
            <a:spLocks noGrp="1"/>
          </p:cNvSpPr>
          <p:nvPr/>
        </p:nvSpPr>
        <p:spPr bwMode="auto">
          <a:xfrm>
            <a:off x="68770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Remove type from registration</a:t>
            </a:r>
            <a:endParaRPr/>
          </a:p>
        </p:txBody>
      </p:sp>
      <p:sp>
        <p:nvSpPr>
          <p:cNvPr id="1926093619" name=""/>
          <p:cNvSpPr>
            <a:spLocks noGrp="1"/>
          </p:cNvSpPr>
          <p:nvPr/>
        </p:nvSpPr>
        <p:spPr bwMode="auto">
          <a:xfrm>
            <a:off x="65722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866334600" name=""/>
          <p:cNvSpPr>
            <a:spLocks noGrp="1"/>
          </p:cNvSpPr>
          <p:nvPr/>
        </p:nvSpPr>
        <p:spPr bwMode="auto">
          <a:xfrm>
            <a:off x="68770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Reject role changes from clients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197930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A03</a:t>
            </a:r>
            <a:endParaRPr/>
          </a:p>
        </p:txBody>
      </p:sp>
      <p:sp>
        <p:nvSpPr>
          <p:cNvPr id="1843351243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12</a:t>
            </a:r>
            <a:endParaRPr/>
          </a:p>
        </p:txBody>
      </p:sp>
      <p:sp>
        <p:nvSpPr>
          <p:cNvPr id="440610250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Injection</a:t>
            </a:r>
            <a:endParaRPr/>
          </a:p>
        </p:txBody>
      </p:sp>
      <p:sp>
        <p:nvSpPr>
          <p:cNvPr id="594173102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99621868" name=""/>
          <p:cNvSpPr>
            <a:spLocks noGrp="1"/>
          </p:cNvSpPr>
          <p:nvPr/>
        </p:nvSpPr>
        <p:spPr bwMode="auto">
          <a:xfrm>
            <a:off x="552450" y="200025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Untrusted input becomes executable SQL or browser code.</a:t>
            </a:r>
            <a:endParaRPr/>
          </a:p>
        </p:txBody>
      </p:sp>
      <p:sp>
        <p:nvSpPr>
          <p:cNvPr id="949959749" name=""/>
          <p:cNvSpPr>
            <a:spLocks noGrp="1"/>
          </p:cNvSpPr>
          <p:nvPr/>
        </p:nvSpPr>
        <p:spPr bwMode="auto">
          <a:xfrm>
            <a:off x="6286500" y="2000250"/>
            <a:ext cx="4762500" cy="23812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09019905" name=""/>
          <p:cNvSpPr>
            <a:spLocks noGrp="1"/>
          </p:cNvSpPr>
          <p:nvPr/>
        </p:nvSpPr>
        <p:spPr bwMode="auto">
          <a:xfrm>
            <a:off x="6572250" y="2266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  <a:endParaRPr/>
          </a:p>
        </p:txBody>
      </p:sp>
      <p:sp>
        <p:nvSpPr>
          <p:cNvPr id="1686510778" name=""/>
          <p:cNvSpPr>
            <a:spLocks noGrp="1"/>
          </p:cNvSpPr>
          <p:nvPr/>
        </p:nvSpPr>
        <p:spPr bwMode="auto">
          <a:xfrm>
            <a:off x="6572250" y="2819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652864395" name=""/>
          <p:cNvSpPr>
            <a:spLocks noGrp="1"/>
          </p:cNvSpPr>
          <p:nvPr/>
        </p:nvSpPr>
        <p:spPr bwMode="auto">
          <a:xfrm>
            <a:off x="6877050" y="28194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String concatenation in SQL</a:t>
            </a:r>
            <a:endParaRPr/>
          </a:p>
        </p:txBody>
      </p:sp>
      <p:sp>
        <p:nvSpPr>
          <p:cNvPr id="1733150026" name=""/>
          <p:cNvSpPr>
            <a:spLocks noGrp="1"/>
          </p:cNvSpPr>
          <p:nvPr/>
        </p:nvSpPr>
        <p:spPr bwMode="auto">
          <a:xfrm>
            <a:off x="6572250" y="33718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55276477" name=""/>
          <p:cNvSpPr>
            <a:spLocks noGrp="1"/>
          </p:cNvSpPr>
          <p:nvPr/>
        </p:nvSpPr>
        <p:spPr bwMode="auto">
          <a:xfrm>
            <a:off x="6877050" y="33718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innerHTML with unsanitised review/game text</a:t>
            </a:r>
            <a:endParaRPr/>
          </a:p>
        </p:txBody>
      </p:sp>
      <p:sp>
        <p:nvSpPr>
          <p:cNvPr id="1911639075" name=""/>
          <p:cNvSpPr>
            <a:spLocks noGrp="1"/>
          </p:cNvSpPr>
          <p:nvPr/>
        </p:nvSpPr>
        <p:spPr bwMode="auto">
          <a:xfrm>
            <a:off x="6572250" y="3924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38219716" name=""/>
          <p:cNvSpPr>
            <a:spLocks noGrp="1"/>
          </p:cNvSpPr>
          <p:nvPr/>
        </p:nvSpPr>
        <p:spPr bwMode="auto">
          <a:xfrm>
            <a:off x="6877050" y="39243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Payloads reach DB and victim browsers</a:t>
            </a:r>
            <a:endParaRPr/>
          </a:p>
        </p:txBody>
      </p:sp>
      <p:sp>
        <p:nvSpPr>
          <p:cNvPr id="612144904" name=""/>
          <p:cNvSpPr>
            <a:spLocks noGrp="1"/>
          </p:cNvSpPr>
          <p:nvPr/>
        </p:nvSpPr>
        <p:spPr bwMode="auto">
          <a:xfrm>
            <a:off x="552450" y="4810125"/>
            <a:ext cx="1000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Injection turns normal form fields into a path for data theft, tampering, and browser-side compromise.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413294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A03</a:t>
            </a:r>
            <a:endParaRPr/>
          </a:p>
        </p:txBody>
      </p:sp>
      <p:sp>
        <p:nvSpPr>
          <p:cNvPr id="1879111255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13</a:t>
            </a:r>
            <a:endParaRPr/>
          </a:p>
        </p:txBody>
      </p:sp>
      <p:sp>
        <p:nvSpPr>
          <p:cNvPr id="1125321987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Injection findings</a:t>
            </a:r>
            <a:endParaRPr/>
          </a:p>
        </p:txBody>
      </p:sp>
      <p:sp>
        <p:nvSpPr>
          <p:cNvPr id="1478093167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346760087" name=""/>
          <p:cNvSpPr>
            <a:spLocks noGrp="1"/>
          </p:cNvSpPr>
          <p:nvPr/>
        </p:nvSpPr>
        <p:spPr bwMode="auto">
          <a:xfrm>
            <a:off x="552450" y="20478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83162796" name=""/>
          <p:cNvSpPr>
            <a:spLocks noGrp="1"/>
          </p:cNvSpPr>
          <p:nvPr/>
        </p:nvSpPr>
        <p:spPr bwMode="auto">
          <a:xfrm>
            <a:off x="762000" y="21907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70419019" name=""/>
          <p:cNvSpPr>
            <a:spLocks noGrp="1"/>
          </p:cNvSpPr>
          <p:nvPr/>
        </p:nvSpPr>
        <p:spPr bwMode="auto">
          <a:xfrm>
            <a:off x="2124075" y="21717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SQLi in GET /users/:userid</a:t>
            </a:r>
            <a:endParaRPr/>
          </a:p>
        </p:txBody>
      </p:sp>
      <p:sp>
        <p:nvSpPr>
          <p:cNvPr id="1080823434" name=""/>
          <p:cNvSpPr>
            <a:spLocks noGrp="1"/>
          </p:cNvSpPr>
          <p:nvPr/>
        </p:nvSpPr>
        <p:spPr bwMode="auto">
          <a:xfrm>
            <a:off x="552450" y="2790824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65108751" name=""/>
          <p:cNvSpPr>
            <a:spLocks noGrp="1"/>
          </p:cNvSpPr>
          <p:nvPr/>
        </p:nvSpPr>
        <p:spPr bwMode="auto">
          <a:xfrm>
            <a:off x="762000" y="2933699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870469150" name=""/>
          <p:cNvSpPr>
            <a:spLocks noGrp="1"/>
          </p:cNvSpPr>
          <p:nvPr/>
        </p:nvSpPr>
        <p:spPr bwMode="auto">
          <a:xfrm>
            <a:off x="2124075" y="29146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Stored XSS in reviews/games</a:t>
            </a:r>
            <a:endParaRPr/>
          </a:p>
        </p:txBody>
      </p:sp>
      <p:sp>
        <p:nvSpPr>
          <p:cNvPr id="1452990979" name=""/>
          <p:cNvSpPr>
            <a:spLocks noGrp="1"/>
          </p:cNvSpPr>
          <p:nvPr/>
        </p:nvSpPr>
        <p:spPr bwMode="auto">
          <a:xfrm>
            <a:off x="552450" y="35337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18683812" name=""/>
          <p:cNvSpPr>
            <a:spLocks noGrp="1"/>
          </p:cNvSpPr>
          <p:nvPr/>
        </p:nvSpPr>
        <p:spPr bwMode="auto">
          <a:xfrm>
            <a:off x="762000" y="36766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764860560" name=""/>
          <p:cNvSpPr>
            <a:spLocks noGrp="1"/>
          </p:cNvSpPr>
          <p:nvPr/>
        </p:nvSpPr>
        <p:spPr bwMode="auto">
          <a:xfrm>
            <a:off x="2124075" y="36576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SQLi in game create/update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395120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A03</a:t>
            </a:r>
            <a:endParaRPr/>
          </a:p>
        </p:txBody>
      </p:sp>
      <p:sp>
        <p:nvSpPr>
          <p:cNvPr id="1830719633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14</a:t>
            </a:r>
            <a:endParaRPr/>
          </a:p>
        </p:txBody>
      </p:sp>
      <p:sp>
        <p:nvSpPr>
          <p:cNvPr id="2005196876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  <a:endParaRPr/>
          </a:p>
        </p:txBody>
      </p:sp>
      <p:sp>
        <p:nvSpPr>
          <p:cNvPr id="1532422181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294793517" name=""/>
          <p:cNvSpPr>
            <a:spLocks noGrp="1"/>
          </p:cNvSpPr>
          <p:nvPr/>
        </p:nvSpPr>
        <p:spPr bwMode="auto">
          <a:xfrm>
            <a:off x="5524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  <a:endParaRPr/>
          </a:p>
        </p:txBody>
      </p:sp>
      <p:sp>
        <p:nvSpPr>
          <p:cNvPr id="1186438271" name=""/>
          <p:cNvSpPr>
            <a:spLocks noGrp="1"/>
          </p:cNvSpPr>
          <p:nvPr/>
        </p:nvSpPr>
        <p:spPr bwMode="auto">
          <a:xfrm>
            <a:off x="5524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154092886" name=""/>
          <p:cNvSpPr>
            <a:spLocks noGrp="1"/>
          </p:cNvSpPr>
          <p:nvPr/>
        </p:nvSpPr>
        <p:spPr bwMode="auto">
          <a:xfrm>
            <a:off x="8572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Dump or alter database rows</a:t>
            </a:r>
            <a:endParaRPr/>
          </a:p>
        </p:txBody>
      </p:sp>
      <p:sp>
        <p:nvSpPr>
          <p:cNvPr id="1425322347" name=""/>
          <p:cNvSpPr>
            <a:spLocks noGrp="1"/>
          </p:cNvSpPr>
          <p:nvPr/>
        </p:nvSpPr>
        <p:spPr bwMode="auto">
          <a:xfrm>
            <a:off x="5524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664702416" name=""/>
          <p:cNvSpPr>
            <a:spLocks noGrp="1"/>
          </p:cNvSpPr>
          <p:nvPr/>
        </p:nvSpPr>
        <p:spPr bwMode="auto">
          <a:xfrm>
            <a:off x="8572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Run script in victim browser</a:t>
            </a:r>
            <a:endParaRPr/>
          </a:p>
        </p:txBody>
      </p:sp>
      <p:sp>
        <p:nvSpPr>
          <p:cNvPr id="1844376149" name=""/>
          <p:cNvSpPr>
            <a:spLocks noGrp="1"/>
          </p:cNvSpPr>
          <p:nvPr/>
        </p:nvSpPr>
        <p:spPr bwMode="auto">
          <a:xfrm>
            <a:off x="5524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665551502" name=""/>
          <p:cNvSpPr>
            <a:spLocks noGrp="1"/>
          </p:cNvSpPr>
          <p:nvPr/>
        </p:nvSpPr>
        <p:spPr bwMode="auto">
          <a:xfrm>
            <a:off x="8572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Bypass auth logic</a:t>
            </a:r>
            <a:endParaRPr/>
          </a:p>
        </p:txBody>
      </p:sp>
      <p:sp>
        <p:nvSpPr>
          <p:cNvPr id="1722927187" name=""/>
          <p:cNvSpPr>
            <a:spLocks noGrp="1"/>
          </p:cNvSpPr>
          <p:nvPr/>
        </p:nvSpPr>
        <p:spPr bwMode="auto">
          <a:xfrm>
            <a:off x="5524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559847090" name=""/>
          <p:cNvSpPr>
            <a:spLocks noGrp="1"/>
          </p:cNvSpPr>
          <p:nvPr/>
        </p:nvSpPr>
        <p:spPr bwMode="auto">
          <a:xfrm>
            <a:off x="8572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Steal visible tokens</a:t>
            </a:r>
            <a:endParaRPr/>
          </a:p>
        </p:txBody>
      </p:sp>
      <p:sp>
        <p:nvSpPr>
          <p:cNvPr id="2117152152" name=""/>
          <p:cNvSpPr>
            <a:spLocks noGrp="1"/>
          </p:cNvSpPr>
          <p:nvPr/>
        </p:nvSpPr>
        <p:spPr bwMode="auto">
          <a:xfrm>
            <a:off x="65722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  <a:endParaRPr/>
          </a:p>
        </p:txBody>
      </p:sp>
      <p:sp>
        <p:nvSpPr>
          <p:cNvPr id="222137653" name=""/>
          <p:cNvSpPr>
            <a:spLocks noGrp="1"/>
          </p:cNvSpPr>
          <p:nvPr/>
        </p:nvSpPr>
        <p:spPr bwMode="auto">
          <a:xfrm>
            <a:off x="65722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322297899" name=""/>
          <p:cNvSpPr>
            <a:spLocks noGrp="1"/>
          </p:cNvSpPr>
          <p:nvPr/>
        </p:nvSpPr>
        <p:spPr bwMode="auto">
          <a:xfrm>
            <a:off x="68770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Use ? placeholders</a:t>
            </a:r>
            <a:endParaRPr/>
          </a:p>
        </p:txBody>
      </p:sp>
      <p:sp>
        <p:nvSpPr>
          <p:cNvPr id="963098518" name=""/>
          <p:cNvSpPr>
            <a:spLocks noGrp="1"/>
          </p:cNvSpPr>
          <p:nvPr/>
        </p:nvSpPr>
        <p:spPr bwMode="auto">
          <a:xfrm>
            <a:off x="65722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540795101" name=""/>
          <p:cNvSpPr>
            <a:spLocks noGrp="1"/>
          </p:cNvSpPr>
          <p:nvPr/>
        </p:nvSpPr>
        <p:spPr bwMode="auto">
          <a:xfrm>
            <a:off x="68770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Validate inputs</a:t>
            </a:r>
            <a:endParaRPr/>
          </a:p>
        </p:txBody>
      </p:sp>
      <p:sp>
        <p:nvSpPr>
          <p:cNvPr id="1163288953" name=""/>
          <p:cNvSpPr>
            <a:spLocks noGrp="1"/>
          </p:cNvSpPr>
          <p:nvPr/>
        </p:nvSpPr>
        <p:spPr bwMode="auto">
          <a:xfrm>
            <a:off x="65722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06656905" name=""/>
          <p:cNvSpPr>
            <a:spLocks noGrp="1"/>
          </p:cNvSpPr>
          <p:nvPr/>
        </p:nvSpPr>
        <p:spPr bwMode="auto">
          <a:xfrm>
            <a:off x="68770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Escape/sanitise output</a:t>
            </a:r>
            <a:endParaRPr/>
          </a:p>
        </p:txBody>
      </p:sp>
      <p:sp>
        <p:nvSpPr>
          <p:cNvPr id="1688401869" name=""/>
          <p:cNvSpPr>
            <a:spLocks noGrp="1"/>
          </p:cNvSpPr>
          <p:nvPr/>
        </p:nvSpPr>
        <p:spPr bwMode="auto">
          <a:xfrm>
            <a:off x="65722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30378866" name=""/>
          <p:cNvSpPr>
            <a:spLocks noGrp="1"/>
          </p:cNvSpPr>
          <p:nvPr/>
        </p:nvSpPr>
        <p:spPr bwMode="auto">
          <a:xfrm>
            <a:off x="68770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Avoid raw innerHTML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020822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A03</a:t>
            </a:r>
            <a:endParaRPr/>
          </a:p>
        </p:txBody>
      </p:sp>
      <p:sp>
        <p:nvSpPr>
          <p:cNvPr id="29821269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15</a:t>
            </a:r>
            <a:endParaRPr/>
          </a:p>
        </p:txBody>
      </p:sp>
      <p:sp>
        <p:nvSpPr>
          <p:cNvPr id="1300854435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Evidence and re-test</a:t>
            </a:r>
            <a:endParaRPr/>
          </a:p>
        </p:txBody>
      </p:sp>
      <p:sp>
        <p:nvSpPr>
          <p:cNvPr id="1896707409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585536671" name=""/>
          <p:cNvSpPr>
            <a:spLocks noGrp="1"/>
          </p:cNvSpPr>
          <p:nvPr/>
        </p:nvSpPr>
        <p:spPr bwMode="auto">
          <a:xfrm>
            <a:off x="552450" y="2095500"/>
            <a:ext cx="4953000" cy="2667000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31425429" name=""/>
          <p:cNvSpPr>
            <a:spLocks noGrp="1"/>
          </p:cNvSpPr>
          <p:nvPr/>
        </p:nvSpPr>
        <p:spPr bwMode="auto">
          <a:xfrm>
            <a:off x="819150" y="2362199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</a:rPr>
              <a:t>Evidence to show</a:t>
            </a:r>
            <a:endParaRPr/>
          </a:p>
        </p:txBody>
      </p:sp>
      <p:sp>
        <p:nvSpPr>
          <p:cNvPr id="143780924" name=""/>
          <p:cNvSpPr>
            <a:spLocks noGrp="1"/>
          </p:cNvSpPr>
          <p:nvPr/>
        </p:nvSpPr>
        <p:spPr bwMode="auto">
          <a:xfrm>
            <a:off x="819150" y="2952750"/>
            <a:ext cx="4238625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E5E7EB"/>
                </a:solidFill>
              </a:defRPr>
            </a:pPr>
            <a:r>
              <a:rPr sz="1800" b="0">
                <a:solidFill>
                  <a:srgbClr val="E5E7EB"/>
                </a:solidFill>
              </a:rPr>
              <a:t>Bruno payloads: ' OR 1=1 -- and &lt;script&gt;alert(1)&lt;/script&gt;.</a:t>
            </a:r>
            <a:endParaRPr/>
          </a:p>
        </p:txBody>
      </p:sp>
      <p:sp>
        <p:nvSpPr>
          <p:cNvPr id="562320970" name=""/>
          <p:cNvSpPr>
            <a:spLocks noGrp="1"/>
          </p:cNvSpPr>
          <p:nvPr/>
        </p:nvSpPr>
        <p:spPr bwMode="auto">
          <a:xfrm>
            <a:off x="6572250" y="2095500"/>
            <a:ext cx="4953000" cy="2667000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61158286" name=""/>
          <p:cNvSpPr>
            <a:spLocks noGrp="1"/>
          </p:cNvSpPr>
          <p:nvPr/>
        </p:nvSpPr>
        <p:spPr bwMode="auto">
          <a:xfrm>
            <a:off x="6858000" y="2362199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047857"/>
                </a:solidFill>
              </a:defRPr>
            </a:pPr>
            <a:r>
              <a:rPr sz="1900" b="1">
                <a:solidFill>
                  <a:srgbClr val="047857"/>
                </a:solidFill>
              </a:rPr>
              <a:t>After fix</a:t>
            </a:r>
            <a:endParaRPr/>
          </a:p>
        </p:txBody>
      </p:sp>
      <p:sp>
        <p:nvSpPr>
          <p:cNvPr id="2023572027" name=""/>
          <p:cNvSpPr>
            <a:spLocks noGrp="1"/>
          </p:cNvSpPr>
          <p:nvPr/>
        </p:nvSpPr>
        <p:spPr bwMode="auto">
          <a:xfrm>
            <a:off x="6858000" y="2952750"/>
            <a:ext cx="4000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Same payloads are blocked, parameterized, or rendered harmless.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4472407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A07</a:t>
            </a:r>
            <a:endParaRPr/>
          </a:p>
        </p:txBody>
      </p:sp>
      <p:sp>
        <p:nvSpPr>
          <p:cNvPr id="1410705674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16</a:t>
            </a:r>
            <a:endParaRPr/>
          </a:p>
        </p:txBody>
      </p:sp>
      <p:sp>
        <p:nvSpPr>
          <p:cNvPr id="951360168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Authentication Failures</a:t>
            </a:r>
            <a:endParaRPr/>
          </a:p>
        </p:txBody>
      </p:sp>
      <p:sp>
        <p:nvSpPr>
          <p:cNvPr id="221975429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639916595" name=""/>
          <p:cNvSpPr>
            <a:spLocks noGrp="1"/>
          </p:cNvSpPr>
          <p:nvPr/>
        </p:nvSpPr>
        <p:spPr bwMode="auto">
          <a:xfrm>
            <a:off x="552450" y="200025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Login, session, and credential handling are too weak.</a:t>
            </a:r>
            <a:endParaRPr/>
          </a:p>
        </p:txBody>
      </p:sp>
      <p:sp>
        <p:nvSpPr>
          <p:cNvPr id="1788622008" name=""/>
          <p:cNvSpPr>
            <a:spLocks noGrp="1"/>
          </p:cNvSpPr>
          <p:nvPr/>
        </p:nvSpPr>
        <p:spPr bwMode="auto">
          <a:xfrm>
            <a:off x="6286500" y="2000250"/>
            <a:ext cx="4762500" cy="23812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69828820" name=""/>
          <p:cNvSpPr>
            <a:spLocks noGrp="1"/>
          </p:cNvSpPr>
          <p:nvPr/>
        </p:nvSpPr>
        <p:spPr bwMode="auto">
          <a:xfrm>
            <a:off x="6572250" y="2266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  <a:endParaRPr/>
          </a:p>
        </p:txBody>
      </p:sp>
      <p:sp>
        <p:nvSpPr>
          <p:cNvPr id="2108697787" name=""/>
          <p:cNvSpPr>
            <a:spLocks noGrp="1"/>
          </p:cNvSpPr>
          <p:nvPr/>
        </p:nvSpPr>
        <p:spPr bwMode="auto">
          <a:xfrm>
            <a:off x="6572250" y="2819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54343366" name=""/>
          <p:cNvSpPr>
            <a:spLocks noGrp="1"/>
          </p:cNvSpPr>
          <p:nvPr/>
        </p:nvSpPr>
        <p:spPr bwMode="auto">
          <a:xfrm>
            <a:off x="6877050" y="28194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Plaintext passwords in database</a:t>
            </a:r>
            <a:endParaRPr/>
          </a:p>
        </p:txBody>
      </p:sp>
      <p:sp>
        <p:nvSpPr>
          <p:cNvPr id="1955623230" name=""/>
          <p:cNvSpPr>
            <a:spLocks noGrp="1"/>
          </p:cNvSpPr>
          <p:nvPr/>
        </p:nvSpPr>
        <p:spPr bwMode="auto">
          <a:xfrm>
            <a:off x="6572250" y="33718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5611115" name=""/>
          <p:cNvSpPr>
            <a:spLocks noGrp="1"/>
          </p:cNvSpPr>
          <p:nvPr/>
        </p:nvSpPr>
        <p:spPr bwMode="auto">
          <a:xfrm>
            <a:off x="6877050" y="33718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Tokens stored in localStorage</a:t>
            </a:r>
            <a:endParaRPr/>
          </a:p>
        </p:txBody>
      </p:sp>
      <p:sp>
        <p:nvSpPr>
          <p:cNvPr id="222215982" name=""/>
          <p:cNvSpPr>
            <a:spLocks noGrp="1"/>
          </p:cNvSpPr>
          <p:nvPr/>
        </p:nvSpPr>
        <p:spPr bwMode="auto">
          <a:xfrm>
            <a:off x="6572250" y="3924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92380069" name=""/>
          <p:cNvSpPr>
            <a:spLocks noGrp="1"/>
          </p:cNvSpPr>
          <p:nvPr/>
        </p:nvSpPr>
        <p:spPr bwMode="auto">
          <a:xfrm>
            <a:off x="6877050" y="39243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Weak/no password policy</a:t>
            </a:r>
            <a:endParaRPr/>
          </a:p>
        </p:txBody>
      </p:sp>
      <p:sp>
        <p:nvSpPr>
          <p:cNvPr id="393601008" name=""/>
          <p:cNvSpPr>
            <a:spLocks noGrp="1"/>
          </p:cNvSpPr>
          <p:nvPr/>
        </p:nvSpPr>
        <p:spPr bwMode="auto">
          <a:xfrm>
            <a:off x="6572250" y="44767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198134670" name=""/>
          <p:cNvSpPr>
            <a:spLocks noGrp="1"/>
          </p:cNvSpPr>
          <p:nvPr/>
        </p:nvSpPr>
        <p:spPr bwMode="auto">
          <a:xfrm>
            <a:off x="6877050" y="44767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Hardcoded signing key overlap with A01</a:t>
            </a:r>
            <a:endParaRPr/>
          </a:p>
        </p:txBody>
      </p:sp>
      <p:sp>
        <p:nvSpPr>
          <p:cNvPr id="239944112" name=""/>
          <p:cNvSpPr>
            <a:spLocks noGrp="1"/>
          </p:cNvSpPr>
          <p:nvPr/>
        </p:nvSpPr>
        <p:spPr bwMode="auto">
          <a:xfrm>
            <a:off x="552450" y="4810125"/>
            <a:ext cx="1000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A successful XSS or database leak can become account takeover rather than only a display issue.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49832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A07</a:t>
            </a:r>
            <a:endParaRPr/>
          </a:p>
        </p:txBody>
      </p:sp>
      <p:sp>
        <p:nvSpPr>
          <p:cNvPr id="1026474618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17</a:t>
            </a:r>
            <a:endParaRPr/>
          </a:p>
        </p:txBody>
      </p:sp>
      <p:sp>
        <p:nvSpPr>
          <p:cNvPr id="334288476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Authentication findings</a:t>
            </a:r>
            <a:endParaRPr/>
          </a:p>
        </p:txBody>
      </p:sp>
      <p:sp>
        <p:nvSpPr>
          <p:cNvPr id="1278529078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590587992" name=""/>
          <p:cNvSpPr>
            <a:spLocks noGrp="1"/>
          </p:cNvSpPr>
          <p:nvPr/>
        </p:nvSpPr>
        <p:spPr bwMode="auto">
          <a:xfrm>
            <a:off x="552450" y="20478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66777168" name=""/>
          <p:cNvSpPr>
            <a:spLocks noGrp="1"/>
          </p:cNvSpPr>
          <p:nvPr/>
        </p:nvSpPr>
        <p:spPr bwMode="auto">
          <a:xfrm>
            <a:off x="762000" y="21907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714617058" name=""/>
          <p:cNvSpPr>
            <a:spLocks noGrp="1"/>
          </p:cNvSpPr>
          <p:nvPr/>
        </p:nvSpPr>
        <p:spPr bwMode="auto">
          <a:xfrm>
            <a:off x="2124075" y="21717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Plaintext password storage</a:t>
            </a:r>
            <a:endParaRPr/>
          </a:p>
        </p:txBody>
      </p:sp>
      <p:sp>
        <p:nvSpPr>
          <p:cNvPr id="1905827756" name=""/>
          <p:cNvSpPr>
            <a:spLocks noGrp="1"/>
          </p:cNvSpPr>
          <p:nvPr/>
        </p:nvSpPr>
        <p:spPr bwMode="auto">
          <a:xfrm>
            <a:off x="552450" y="2790824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27589423" name=""/>
          <p:cNvSpPr>
            <a:spLocks noGrp="1"/>
          </p:cNvSpPr>
          <p:nvPr/>
        </p:nvSpPr>
        <p:spPr bwMode="auto">
          <a:xfrm>
            <a:off x="762000" y="2933699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292472130" name=""/>
          <p:cNvSpPr>
            <a:spLocks noGrp="1"/>
          </p:cNvSpPr>
          <p:nvPr/>
        </p:nvSpPr>
        <p:spPr bwMode="auto">
          <a:xfrm>
            <a:off x="2124075" y="29146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Session hijacking through client token storage</a:t>
            </a:r>
            <a:endParaRPr/>
          </a:p>
        </p:txBody>
      </p:sp>
      <p:sp>
        <p:nvSpPr>
          <p:cNvPr id="799422125" name=""/>
          <p:cNvSpPr>
            <a:spLocks noGrp="1"/>
          </p:cNvSpPr>
          <p:nvPr/>
        </p:nvSpPr>
        <p:spPr bwMode="auto">
          <a:xfrm>
            <a:off x="552450" y="35337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9751703" name=""/>
          <p:cNvSpPr>
            <a:spLocks noGrp="1"/>
          </p:cNvSpPr>
          <p:nvPr/>
        </p:nvSpPr>
        <p:spPr bwMode="auto">
          <a:xfrm>
            <a:off x="762000" y="36766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  <a:endParaRPr/>
          </a:p>
        </p:txBody>
      </p:sp>
      <p:sp>
        <p:nvSpPr>
          <p:cNvPr id="1909411676" name=""/>
          <p:cNvSpPr>
            <a:spLocks noGrp="1"/>
          </p:cNvSpPr>
          <p:nvPr/>
        </p:nvSpPr>
        <p:spPr bwMode="auto">
          <a:xfrm>
            <a:off x="2124075" y="36576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Weak password validation</a:t>
            </a:r>
            <a:endParaRPr/>
          </a:p>
        </p:txBody>
      </p:sp>
      <p:sp>
        <p:nvSpPr>
          <p:cNvPr id="1446043625" name=""/>
          <p:cNvSpPr>
            <a:spLocks noGrp="1"/>
          </p:cNvSpPr>
          <p:nvPr/>
        </p:nvSpPr>
        <p:spPr bwMode="auto">
          <a:xfrm>
            <a:off x="552450" y="4276725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31852287" name=""/>
          <p:cNvSpPr>
            <a:spLocks noGrp="1"/>
          </p:cNvSpPr>
          <p:nvPr/>
        </p:nvSpPr>
        <p:spPr bwMode="auto">
          <a:xfrm>
            <a:off x="762000" y="441960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1919965800" name=""/>
          <p:cNvSpPr>
            <a:spLocks noGrp="1"/>
          </p:cNvSpPr>
          <p:nvPr/>
        </p:nvSpPr>
        <p:spPr bwMode="auto">
          <a:xfrm>
            <a:off x="2124075" y="44005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Hardcoded signing key also covered under A01</a:t>
            </a:r>
            <a:endParaRPr/>
          </a:p>
        </p:txBody>
      </p:sp>
      <p:sp>
        <p:nvSpPr>
          <p:cNvPr id="1878332163" name=""/>
          <p:cNvSpPr>
            <a:spLocks noGrp="1"/>
          </p:cNvSpPr>
          <p:nvPr/>
        </p:nvSpPr>
        <p:spPr bwMode="auto">
          <a:xfrm>
            <a:off x="552449" y="5024058"/>
            <a:ext cx="11087100" cy="552449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40298640" name=""/>
          <p:cNvSpPr>
            <a:spLocks noGrp="1"/>
          </p:cNvSpPr>
          <p:nvPr/>
        </p:nvSpPr>
        <p:spPr bwMode="auto">
          <a:xfrm>
            <a:off x="761999" y="5166933"/>
            <a:ext cx="1190624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464402914" name=""/>
          <p:cNvSpPr>
            <a:spLocks noGrp="1"/>
          </p:cNvSpPr>
          <p:nvPr/>
        </p:nvSpPr>
        <p:spPr bwMode="auto">
          <a:xfrm>
            <a:off x="2124074" y="5147883"/>
            <a:ext cx="8191499" cy="304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Missing HTTPS protection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096295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A07</a:t>
            </a:r>
            <a:endParaRPr/>
          </a:p>
        </p:txBody>
      </p:sp>
      <p:sp>
        <p:nvSpPr>
          <p:cNvPr id="525997120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18</a:t>
            </a:r>
            <a:endParaRPr/>
          </a:p>
        </p:txBody>
      </p:sp>
      <p:sp>
        <p:nvSpPr>
          <p:cNvPr id="1611653104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  <a:endParaRPr/>
          </a:p>
        </p:txBody>
      </p:sp>
      <p:sp>
        <p:nvSpPr>
          <p:cNvPr id="1357602139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067155048" name=""/>
          <p:cNvSpPr>
            <a:spLocks noGrp="1"/>
          </p:cNvSpPr>
          <p:nvPr/>
        </p:nvSpPr>
        <p:spPr bwMode="auto">
          <a:xfrm>
            <a:off x="5524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  <a:endParaRPr/>
          </a:p>
        </p:txBody>
      </p:sp>
      <p:sp>
        <p:nvSpPr>
          <p:cNvPr id="887928071" name=""/>
          <p:cNvSpPr>
            <a:spLocks noGrp="1"/>
          </p:cNvSpPr>
          <p:nvPr/>
        </p:nvSpPr>
        <p:spPr bwMode="auto">
          <a:xfrm>
            <a:off x="5524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408627039" name=""/>
          <p:cNvSpPr>
            <a:spLocks noGrp="1"/>
          </p:cNvSpPr>
          <p:nvPr/>
        </p:nvSpPr>
        <p:spPr bwMode="auto">
          <a:xfrm>
            <a:off x="8572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Credential theft</a:t>
            </a:r>
            <a:endParaRPr/>
          </a:p>
        </p:txBody>
      </p:sp>
      <p:sp>
        <p:nvSpPr>
          <p:cNvPr id="480883246" name=""/>
          <p:cNvSpPr>
            <a:spLocks noGrp="1"/>
          </p:cNvSpPr>
          <p:nvPr/>
        </p:nvSpPr>
        <p:spPr bwMode="auto">
          <a:xfrm>
            <a:off x="5524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61179305" name=""/>
          <p:cNvSpPr>
            <a:spLocks noGrp="1"/>
          </p:cNvSpPr>
          <p:nvPr/>
        </p:nvSpPr>
        <p:spPr bwMode="auto">
          <a:xfrm>
            <a:off x="8572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Token theft via XSS</a:t>
            </a:r>
            <a:endParaRPr/>
          </a:p>
        </p:txBody>
      </p:sp>
      <p:sp>
        <p:nvSpPr>
          <p:cNvPr id="1618283560" name=""/>
          <p:cNvSpPr>
            <a:spLocks noGrp="1"/>
          </p:cNvSpPr>
          <p:nvPr/>
        </p:nvSpPr>
        <p:spPr bwMode="auto">
          <a:xfrm>
            <a:off x="5524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434095582" name=""/>
          <p:cNvSpPr>
            <a:spLocks noGrp="1"/>
          </p:cNvSpPr>
          <p:nvPr/>
        </p:nvSpPr>
        <p:spPr bwMode="auto">
          <a:xfrm>
            <a:off x="8572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Account takeover</a:t>
            </a:r>
            <a:endParaRPr/>
          </a:p>
        </p:txBody>
      </p:sp>
      <p:sp>
        <p:nvSpPr>
          <p:cNvPr id="53973234" name=""/>
          <p:cNvSpPr>
            <a:spLocks noGrp="1"/>
          </p:cNvSpPr>
          <p:nvPr/>
        </p:nvSpPr>
        <p:spPr bwMode="auto">
          <a:xfrm>
            <a:off x="5524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218463071" name=""/>
          <p:cNvSpPr>
            <a:spLocks noGrp="1"/>
          </p:cNvSpPr>
          <p:nvPr/>
        </p:nvSpPr>
        <p:spPr bwMode="auto">
          <a:xfrm>
            <a:off x="8572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Replay of weak sessions</a:t>
            </a:r>
            <a:endParaRPr/>
          </a:p>
        </p:txBody>
      </p:sp>
      <p:sp>
        <p:nvSpPr>
          <p:cNvPr id="1715449273" name=""/>
          <p:cNvSpPr>
            <a:spLocks noGrp="1"/>
          </p:cNvSpPr>
          <p:nvPr/>
        </p:nvSpPr>
        <p:spPr bwMode="auto">
          <a:xfrm>
            <a:off x="65722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  <a:endParaRPr/>
          </a:p>
        </p:txBody>
      </p:sp>
      <p:sp>
        <p:nvSpPr>
          <p:cNvPr id="1083226562" name=""/>
          <p:cNvSpPr>
            <a:spLocks noGrp="1"/>
          </p:cNvSpPr>
          <p:nvPr/>
        </p:nvSpPr>
        <p:spPr bwMode="auto">
          <a:xfrm>
            <a:off x="65722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696919570" name=""/>
          <p:cNvSpPr>
            <a:spLocks noGrp="1"/>
          </p:cNvSpPr>
          <p:nvPr/>
        </p:nvSpPr>
        <p:spPr bwMode="auto">
          <a:xfrm>
            <a:off x="68770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bcrypt password hashing</a:t>
            </a:r>
            <a:endParaRPr/>
          </a:p>
        </p:txBody>
      </p:sp>
      <p:sp>
        <p:nvSpPr>
          <p:cNvPr id="1559503621" name=""/>
          <p:cNvSpPr>
            <a:spLocks noGrp="1"/>
          </p:cNvSpPr>
          <p:nvPr/>
        </p:nvSpPr>
        <p:spPr bwMode="auto">
          <a:xfrm>
            <a:off x="65722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943993202" name=""/>
          <p:cNvSpPr>
            <a:spLocks noGrp="1"/>
          </p:cNvSpPr>
          <p:nvPr/>
        </p:nvSpPr>
        <p:spPr bwMode="auto">
          <a:xfrm>
            <a:off x="68770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AWS Cognito Hosted UI + PKCE</a:t>
            </a:r>
            <a:endParaRPr/>
          </a:p>
        </p:txBody>
      </p:sp>
      <p:sp>
        <p:nvSpPr>
          <p:cNvPr id="1580710499" name=""/>
          <p:cNvSpPr>
            <a:spLocks noGrp="1"/>
          </p:cNvSpPr>
          <p:nvPr/>
        </p:nvSpPr>
        <p:spPr bwMode="auto">
          <a:xfrm>
            <a:off x="65722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108492579" name=""/>
          <p:cNvSpPr>
            <a:spLocks noGrp="1"/>
          </p:cNvSpPr>
          <p:nvPr/>
        </p:nvSpPr>
        <p:spPr bwMode="auto">
          <a:xfrm>
            <a:off x="68770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JWKS backend verification</a:t>
            </a:r>
            <a:endParaRPr/>
          </a:p>
        </p:txBody>
      </p:sp>
      <p:sp>
        <p:nvSpPr>
          <p:cNvPr id="1814972313" name=""/>
          <p:cNvSpPr>
            <a:spLocks noGrp="1"/>
          </p:cNvSpPr>
          <p:nvPr/>
        </p:nvSpPr>
        <p:spPr bwMode="auto">
          <a:xfrm>
            <a:off x="65722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915761363" name=""/>
          <p:cNvSpPr>
            <a:spLocks noGrp="1"/>
          </p:cNvSpPr>
          <p:nvPr/>
        </p:nvSpPr>
        <p:spPr bwMode="auto">
          <a:xfrm>
            <a:off x="68770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httpOnly cookies recommended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0114287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A09</a:t>
            </a:r>
            <a:endParaRPr/>
          </a:p>
        </p:txBody>
      </p:sp>
      <p:sp>
        <p:nvSpPr>
          <p:cNvPr id="1153705025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19</a:t>
            </a:r>
            <a:endParaRPr/>
          </a:p>
        </p:txBody>
      </p:sp>
      <p:sp>
        <p:nvSpPr>
          <p:cNvPr id="1237993239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Logging &amp; Monitoring Failures</a:t>
            </a:r>
            <a:endParaRPr/>
          </a:p>
        </p:txBody>
      </p:sp>
      <p:sp>
        <p:nvSpPr>
          <p:cNvPr id="659971441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768504338" name=""/>
          <p:cNvSpPr>
            <a:spLocks noGrp="1"/>
          </p:cNvSpPr>
          <p:nvPr/>
        </p:nvSpPr>
        <p:spPr bwMode="auto">
          <a:xfrm>
            <a:off x="552450" y="2000250"/>
            <a:ext cx="5048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0B0F19"/>
                </a:solidFill>
              </a:defRPr>
            </a:pPr>
            <a:r>
              <a:rPr sz="2400" b="1">
                <a:solidFill>
                  <a:srgbClr val="0B0F19"/>
                </a:solidFill>
              </a:rPr>
              <a:t>Security events are not captured well enough to detect or investigate attacks.</a:t>
            </a:r>
            <a:endParaRPr/>
          </a:p>
        </p:txBody>
      </p:sp>
      <p:sp>
        <p:nvSpPr>
          <p:cNvPr id="228391751" name=""/>
          <p:cNvSpPr>
            <a:spLocks noGrp="1"/>
          </p:cNvSpPr>
          <p:nvPr/>
        </p:nvSpPr>
        <p:spPr bwMode="auto">
          <a:xfrm>
            <a:off x="6286500" y="2000250"/>
            <a:ext cx="4762500" cy="23812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33153808" name=""/>
          <p:cNvSpPr>
            <a:spLocks noGrp="1"/>
          </p:cNvSpPr>
          <p:nvPr/>
        </p:nvSpPr>
        <p:spPr bwMode="auto">
          <a:xfrm>
            <a:off x="6572250" y="22669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Attack model</a:t>
            </a:r>
            <a:endParaRPr/>
          </a:p>
        </p:txBody>
      </p:sp>
      <p:sp>
        <p:nvSpPr>
          <p:cNvPr id="1793822920" name=""/>
          <p:cNvSpPr>
            <a:spLocks noGrp="1"/>
          </p:cNvSpPr>
          <p:nvPr/>
        </p:nvSpPr>
        <p:spPr bwMode="auto">
          <a:xfrm>
            <a:off x="6572250" y="28194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608740567" name=""/>
          <p:cNvSpPr>
            <a:spLocks noGrp="1"/>
          </p:cNvSpPr>
          <p:nvPr/>
        </p:nvSpPr>
        <p:spPr bwMode="auto">
          <a:xfrm>
            <a:off x="6877050" y="28194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console.log(err) leaks schema</a:t>
            </a:r>
            <a:endParaRPr/>
          </a:p>
        </p:txBody>
      </p:sp>
      <p:sp>
        <p:nvSpPr>
          <p:cNvPr id="1313380498" name=""/>
          <p:cNvSpPr>
            <a:spLocks noGrp="1"/>
          </p:cNvSpPr>
          <p:nvPr/>
        </p:nvSpPr>
        <p:spPr bwMode="auto">
          <a:xfrm>
            <a:off x="6572250" y="33718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409114870" name=""/>
          <p:cNvSpPr>
            <a:spLocks noGrp="1"/>
          </p:cNvSpPr>
          <p:nvPr/>
        </p:nvSpPr>
        <p:spPr bwMode="auto">
          <a:xfrm>
            <a:off x="6877050" y="33718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Different errors reveal accounts</a:t>
            </a:r>
            <a:endParaRPr/>
          </a:p>
        </p:txBody>
      </p:sp>
      <p:sp>
        <p:nvSpPr>
          <p:cNvPr id="1265762891" name=""/>
          <p:cNvSpPr>
            <a:spLocks noGrp="1"/>
          </p:cNvSpPr>
          <p:nvPr/>
        </p:nvSpPr>
        <p:spPr bwMode="auto">
          <a:xfrm>
            <a:off x="6572250" y="3924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E85D2A"/>
                </a:solidFill>
              </a:defRPr>
            </a:pPr>
            <a:r>
              <a:rPr sz="175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838494351" name=""/>
          <p:cNvSpPr>
            <a:spLocks noGrp="1"/>
          </p:cNvSpPr>
          <p:nvPr/>
        </p:nvSpPr>
        <p:spPr bwMode="auto">
          <a:xfrm>
            <a:off x="6877050" y="39243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No audit trail for sensitive actions</a:t>
            </a:r>
            <a:endParaRPr/>
          </a:p>
        </p:txBody>
      </p:sp>
      <p:sp>
        <p:nvSpPr>
          <p:cNvPr id="1844503647" name=""/>
          <p:cNvSpPr>
            <a:spLocks noGrp="1"/>
          </p:cNvSpPr>
          <p:nvPr/>
        </p:nvSpPr>
        <p:spPr bwMode="auto">
          <a:xfrm>
            <a:off x="552450" y="4810125"/>
            <a:ext cx="1000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Without durable security logs, attacks can succeed quietly and incident response has little evidence.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43037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A09</a:t>
            </a:r>
            <a:endParaRPr/>
          </a:p>
        </p:txBody>
      </p:sp>
      <p:sp>
        <p:nvSpPr>
          <p:cNvPr id="227321857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20</a:t>
            </a:r>
            <a:endParaRPr/>
          </a:p>
        </p:txBody>
      </p:sp>
      <p:sp>
        <p:nvSpPr>
          <p:cNvPr id="61816083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Logging findings</a:t>
            </a:r>
            <a:endParaRPr/>
          </a:p>
        </p:txBody>
      </p:sp>
      <p:sp>
        <p:nvSpPr>
          <p:cNvPr id="290206807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569309895" name=""/>
          <p:cNvSpPr>
            <a:spLocks noGrp="1"/>
          </p:cNvSpPr>
          <p:nvPr/>
        </p:nvSpPr>
        <p:spPr bwMode="auto">
          <a:xfrm>
            <a:off x="552450" y="20478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8116463" name=""/>
          <p:cNvSpPr>
            <a:spLocks noGrp="1"/>
          </p:cNvSpPr>
          <p:nvPr/>
        </p:nvSpPr>
        <p:spPr bwMode="auto">
          <a:xfrm>
            <a:off x="762000" y="21907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  <a:endParaRPr/>
          </a:p>
        </p:txBody>
      </p:sp>
      <p:sp>
        <p:nvSpPr>
          <p:cNvPr id="1750351076" name=""/>
          <p:cNvSpPr>
            <a:spLocks noGrp="1"/>
          </p:cNvSpPr>
          <p:nvPr/>
        </p:nvSpPr>
        <p:spPr bwMode="auto">
          <a:xfrm>
            <a:off x="2124075" y="21717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No audit trail for registration/reviews</a:t>
            </a:r>
            <a:endParaRPr/>
          </a:p>
        </p:txBody>
      </p:sp>
      <p:sp>
        <p:nvSpPr>
          <p:cNvPr id="140811308" name=""/>
          <p:cNvSpPr>
            <a:spLocks noGrp="1"/>
          </p:cNvSpPr>
          <p:nvPr/>
        </p:nvSpPr>
        <p:spPr bwMode="auto">
          <a:xfrm>
            <a:off x="552450" y="2790824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17582644" name=""/>
          <p:cNvSpPr>
            <a:spLocks noGrp="1"/>
          </p:cNvSpPr>
          <p:nvPr/>
        </p:nvSpPr>
        <p:spPr bwMode="auto">
          <a:xfrm>
            <a:off x="762000" y="2933699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  <a:endParaRPr/>
          </a:p>
        </p:txBody>
      </p:sp>
      <p:sp>
        <p:nvSpPr>
          <p:cNvPr id="694415085" name=""/>
          <p:cNvSpPr>
            <a:spLocks noGrp="1"/>
          </p:cNvSpPr>
          <p:nvPr/>
        </p:nvSpPr>
        <p:spPr bwMode="auto">
          <a:xfrm>
            <a:off x="2124075" y="29146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SQL errors leak details</a:t>
            </a:r>
            <a:endParaRPr/>
          </a:p>
        </p:txBody>
      </p:sp>
      <p:sp>
        <p:nvSpPr>
          <p:cNvPr id="501902264" name=""/>
          <p:cNvSpPr>
            <a:spLocks noGrp="1"/>
          </p:cNvSpPr>
          <p:nvPr/>
        </p:nvSpPr>
        <p:spPr bwMode="auto">
          <a:xfrm>
            <a:off x="552450" y="35337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68262081" name=""/>
          <p:cNvSpPr>
            <a:spLocks noGrp="1"/>
          </p:cNvSpPr>
          <p:nvPr/>
        </p:nvSpPr>
        <p:spPr bwMode="auto">
          <a:xfrm>
            <a:off x="762000" y="36766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  <a:endParaRPr/>
          </a:p>
        </p:txBody>
      </p:sp>
      <p:sp>
        <p:nvSpPr>
          <p:cNvPr id="958468407" name=""/>
          <p:cNvSpPr>
            <a:spLocks noGrp="1"/>
          </p:cNvSpPr>
          <p:nvPr/>
        </p:nvSpPr>
        <p:spPr bwMode="auto">
          <a:xfrm>
            <a:off x="2124075" y="36576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Username/email enumeration</a:t>
            </a:r>
            <a:endParaRPr/>
          </a:p>
        </p:txBody>
      </p:sp>
      <p:sp>
        <p:nvSpPr>
          <p:cNvPr id="802291414" name=""/>
          <p:cNvSpPr>
            <a:spLocks noGrp="1"/>
          </p:cNvSpPr>
          <p:nvPr/>
        </p:nvSpPr>
        <p:spPr bwMode="auto">
          <a:xfrm>
            <a:off x="552450" y="4276725"/>
            <a:ext cx="110871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40569005" name=""/>
          <p:cNvSpPr>
            <a:spLocks noGrp="1"/>
          </p:cNvSpPr>
          <p:nvPr/>
        </p:nvSpPr>
        <p:spPr bwMode="auto">
          <a:xfrm>
            <a:off x="762000" y="441960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High</a:t>
            </a:r>
            <a:endParaRPr/>
          </a:p>
        </p:txBody>
      </p:sp>
      <p:sp>
        <p:nvSpPr>
          <p:cNvPr id="428174806" name=""/>
          <p:cNvSpPr>
            <a:spLocks noGrp="1"/>
          </p:cNvSpPr>
          <p:nvPr/>
        </p:nvSpPr>
        <p:spPr bwMode="auto">
          <a:xfrm>
            <a:off x="2124075" y="44005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Review impersonation</a:t>
            </a:r>
            <a:endParaRPr/>
          </a:p>
        </p:txBody>
      </p:sp>
      <p:sp>
        <p:nvSpPr>
          <p:cNvPr id="515568234" name=""/>
          <p:cNvSpPr>
            <a:spLocks noGrp="1"/>
          </p:cNvSpPr>
          <p:nvPr/>
        </p:nvSpPr>
        <p:spPr bwMode="auto">
          <a:xfrm>
            <a:off x="552450" y="5019675"/>
            <a:ext cx="11087100" cy="55245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49437011" name=""/>
          <p:cNvSpPr>
            <a:spLocks noGrp="1"/>
          </p:cNvSpPr>
          <p:nvPr/>
        </p:nvSpPr>
        <p:spPr bwMode="auto">
          <a:xfrm>
            <a:off x="762000" y="5162550"/>
            <a:ext cx="1190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5309"/>
                </a:solidFill>
              </a:defRPr>
            </a:pPr>
            <a:r>
              <a:rPr sz="1350" b="1">
                <a:solidFill>
                  <a:srgbClr val="B45309"/>
                </a:solidFill>
              </a:rPr>
              <a:t>Medium</a:t>
            </a:r>
            <a:endParaRPr/>
          </a:p>
        </p:txBody>
      </p:sp>
      <p:sp>
        <p:nvSpPr>
          <p:cNvPr id="586889957" name=""/>
          <p:cNvSpPr>
            <a:spLocks noGrp="1"/>
          </p:cNvSpPr>
          <p:nvPr/>
        </p:nvSpPr>
        <p:spPr bwMode="auto">
          <a:xfrm>
            <a:off x="2124075" y="514350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1">
                <a:solidFill>
                  <a:srgbClr val="0B0F19"/>
                </a:solidFill>
              </a:defRPr>
            </a:pPr>
            <a:r>
              <a:rPr sz="1750" b="1">
                <a:solidFill>
                  <a:srgbClr val="0B0F19"/>
                </a:solidFill>
              </a:rPr>
              <a:t>Missing auth logging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921406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A09</a:t>
            </a:r>
            <a:endParaRPr/>
          </a:p>
        </p:txBody>
      </p:sp>
      <p:sp>
        <p:nvSpPr>
          <p:cNvPr id="1014196871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21</a:t>
            </a:r>
            <a:endParaRPr/>
          </a:p>
        </p:txBody>
      </p:sp>
      <p:sp>
        <p:nvSpPr>
          <p:cNvPr id="992561513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Impact and fix</a:t>
            </a:r>
            <a:endParaRPr/>
          </a:p>
        </p:txBody>
      </p:sp>
      <p:sp>
        <p:nvSpPr>
          <p:cNvPr id="1319324832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702823762" name=""/>
          <p:cNvSpPr>
            <a:spLocks noGrp="1"/>
          </p:cNvSpPr>
          <p:nvPr/>
        </p:nvSpPr>
        <p:spPr bwMode="auto">
          <a:xfrm>
            <a:off x="5524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Impact</a:t>
            </a:r>
            <a:endParaRPr/>
          </a:p>
        </p:txBody>
      </p:sp>
      <p:sp>
        <p:nvSpPr>
          <p:cNvPr id="1963513861" name=""/>
          <p:cNvSpPr>
            <a:spLocks noGrp="1"/>
          </p:cNvSpPr>
          <p:nvPr/>
        </p:nvSpPr>
        <p:spPr bwMode="auto">
          <a:xfrm>
            <a:off x="5524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120221325" name=""/>
          <p:cNvSpPr>
            <a:spLocks noGrp="1"/>
          </p:cNvSpPr>
          <p:nvPr/>
        </p:nvSpPr>
        <p:spPr bwMode="auto">
          <a:xfrm>
            <a:off x="8572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No forensic trail</a:t>
            </a:r>
            <a:endParaRPr/>
          </a:p>
        </p:txBody>
      </p:sp>
      <p:sp>
        <p:nvSpPr>
          <p:cNvPr id="1296048176" name=""/>
          <p:cNvSpPr>
            <a:spLocks noGrp="1"/>
          </p:cNvSpPr>
          <p:nvPr/>
        </p:nvSpPr>
        <p:spPr bwMode="auto">
          <a:xfrm>
            <a:off x="5524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543495126" name=""/>
          <p:cNvSpPr>
            <a:spLocks noGrp="1"/>
          </p:cNvSpPr>
          <p:nvPr/>
        </p:nvSpPr>
        <p:spPr bwMode="auto">
          <a:xfrm>
            <a:off x="8572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Account enumeration</a:t>
            </a:r>
            <a:endParaRPr/>
          </a:p>
        </p:txBody>
      </p:sp>
      <p:sp>
        <p:nvSpPr>
          <p:cNvPr id="42340428" name=""/>
          <p:cNvSpPr>
            <a:spLocks noGrp="1"/>
          </p:cNvSpPr>
          <p:nvPr/>
        </p:nvSpPr>
        <p:spPr bwMode="auto">
          <a:xfrm>
            <a:off x="5524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971455099" name=""/>
          <p:cNvSpPr>
            <a:spLocks noGrp="1"/>
          </p:cNvSpPr>
          <p:nvPr/>
        </p:nvSpPr>
        <p:spPr bwMode="auto">
          <a:xfrm>
            <a:off x="8572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Impersonated reviews</a:t>
            </a:r>
            <a:endParaRPr/>
          </a:p>
        </p:txBody>
      </p:sp>
      <p:sp>
        <p:nvSpPr>
          <p:cNvPr id="629403252" name=""/>
          <p:cNvSpPr>
            <a:spLocks noGrp="1"/>
          </p:cNvSpPr>
          <p:nvPr/>
        </p:nvSpPr>
        <p:spPr bwMode="auto">
          <a:xfrm>
            <a:off x="5524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199459140" name=""/>
          <p:cNvSpPr>
            <a:spLocks noGrp="1"/>
          </p:cNvSpPr>
          <p:nvPr/>
        </p:nvSpPr>
        <p:spPr bwMode="auto">
          <a:xfrm>
            <a:off x="8572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Logs lost on EC2 restart</a:t>
            </a:r>
            <a:endParaRPr/>
          </a:p>
        </p:txBody>
      </p:sp>
      <p:sp>
        <p:nvSpPr>
          <p:cNvPr id="591986064" name=""/>
          <p:cNvSpPr>
            <a:spLocks noGrp="1"/>
          </p:cNvSpPr>
          <p:nvPr/>
        </p:nvSpPr>
        <p:spPr bwMode="auto">
          <a:xfrm>
            <a:off x="6572250" y="20478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Fix</a:t>
            </a:r>
            <a:endParaRPr/>
          </a:p>
        </p:txBody>
      </p:sp>
      <p:sp>
        <p:nvSpPr>
          <p:cNvPr id="164911574" name=""/>
          <p:cNvSpPr>
            <a:spLocks noGrp="1"/>
          </p:cNvSpPr>
          <p:nvPr/>
        </p:nvSpPr>
        <p:spPr bwMode="auto">
          <a:xfrm>
            <a:off x="6572250" y="26193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928095641" name=""/>
          <p:cNvSpPr>
            <a:spLocks noGrp="1"/>
          </p:cNvSpPr>
          <p:nvPr/>
        </p:nvSpPr>
        <p:spPr bwMode="auto">
          <a:xfrm>
            <a:off x="6877050" y="26193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securityLog.js audit()</a:t>
            </a:r>
            <a:endParaRPr/>
          </a:p>
        </p:txBody>
      </p:sp>
      <p:sp>
        <p:nvSpPr>
          <p:cNvPr id="1084166197" name=""/>
          <p:cNvSpPr>
            <a:spLocks noGrp="1"/>
          </p:cNvSpPr>
          <p:nvPr/>
        </p:nvSpPr>
        <p:spPr bwMode="auto">
          <a:xfrm>
            <a:off x="6572250" y="32289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15132699" name=""/>
          <p:cNvSpPr>
            <a:spLocks noGrp="1"/>
          </p:cNvSpPr>
          <p:nvPr/>
        </p:nvSpPr>
        <p:spPr bwMode="auto">
          <a:xfrm>
            <a:off x="6877050" y="32289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safeError()</a:t>
            </a:r>
            <a:endParaRPr/>
          </a:p>
        </p:txBody>
      </p:sp>
      <p:sp>
        <p:nvSpPr>
          <p:cNvPr id="1896826135" name=""/>
          <p:cNvSpPr>
            <a:spLocks noGrp="1"/>
          </p:cNvSpPr>
          <p:nvPr/>
        </p:nvSpPr>
        <p:spPr bwMode="auto">
          <a:xfrm>
            <a:off x="6572250" y="3838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134184815" name=""/>
          <p:cNvSpPr>
            <a:spLocks noGrp="1"/>
          </p:cNvSpPr>
          <p:nvPr/>
        </p:nvSpPr>
        <p:spPr bwMode="auto">
          <a:xfrm>
            <a:off x="6877050" y="38385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Generic 422 messages</a:t>
            </a:r>
            <a:endParaRPr/>
          </a:p>
        </p:txBody>
      </p:sp>
      <p:sp>
        <p:nvSpPr>
          <p:cNvPr id="381886297" name=""/>
          <p:cNvSpPr>
            <a:spLocks noGrp="1"/>
          </p:cNvSpPr>
          <p:nvPr/>
        </p:nvSpPr>
        <p:spPr bwMode="auto">
          <a:xfrm>
            <a:off x="6572250" y="44481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370509661" name=""/>
          <p:cNvSpPr>
            <a:spLocks noGrp="1"/>
          </p:cNvSpPr>
          <p:nvPr/>
        </p:nvSpPr>
        <p:spPr bwMode="auto">
          <a:xfrm>
            <a:off x="6877050" y="44481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Review ownership check</a:t>
            </a:r>
            <a:endParaRPr/>
          </a:p>
        </p:txBody>
      </p:sp>
      <p:sp>
        <p:nvSpPr>
          <p:cNvPr id="1398033208" name=""/>
          <p:cNvSpPr>
            <a:spLocks noGrp="1"/>
          </p:cNvSpPr>
          <p:nvPr/>
        </p:nvSpPr>
        <p:spPr bwMode="auto">
          <a:xfrm>
            <a:off x="6572250" y="50577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391238337" name=""/>
          <p:cNvSpPr>
            <a:spLocks noGrp="1"/>
          </p:cNvSpPr>
          <p:nvPr/>
        </p:nvSpPr>
        <p:spPr bwMode="auto">
          <a:xfrm>
            <a:off x="6877050" y="5057775"/>
            <a:ext cx="44577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CloudWatch retention next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454826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AWS</a:t>
            </a:r>
            <a:endParaRPr/>
          </a:p>
        </p:txBody>
      </p:sp>
      <p:sp>
        <p:nvSpPr>
          <p:cNvPr id="1157120163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22</a:t>
            </a:r>
            <a:endParaRPr/>
          </a:p>
        </p:txBody>
      </p:sp>
      <p:sp>
        <p:nvSpPr>
          <p:cNvPr id="1391394256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Production deployment hardening</a:t>
            </a:r>
            <a:endParaRPr/>
          </a:p>
        </p:txBody>
      </p:sp>
      <p:sp>
        <p:nvSpPr>
          <p:cNvPr id="337513942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400813114" name=""/>
          <p:cNvSpPr>
            <a:spLocks noGrp="1"/>
          </p:cNvSpPr>
          <p:nvPr/>
        </p:nvSpPr>
        <p:spPr bwMode="auto">
          <a:xfrm>
            <a:off x="552450" y="2095500"/>
            <a:ext cx="32385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99842853" name=""/>
          <p:cNvSpPr>
            <a:spLocks noGrp="1"/>
          </p:cNvSpPr>
          <p:nvPr/>
        </p:nvSpPr>
        <p:spPr bwMode="auto">
          <a:xfrm>
            <a:off x="742950" y="2266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S3 / Amplify</a:t>
            </a:r>
            <a:endParaRPr/>
          </a:p>
        </p:txBody>
      </p:sp>
      <p:sp>
        <p:nvSpPr>
          <p:cNvPr id="262618724" name=""/>
          <p:cNvSpPr>
            <a:spLocks noGrp="1"/>
          </p:cNvSpPr>
          <p:nvPr/>
        </p:nvSpPr>
        <p:spPr bwMode="auto">
          <a:xfrm>
            <a:off x="742950" y="2647949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Static frontend</a:t>
            </a:r>
            <a:endParaRPr/>
          </a:p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HTTPS callbacks</a:t>
            </a:r>
            <a:endParaRPr/>
          </a:p>
        </p:txBody>
      </p:sp>
      <p:sp>
        <p:nvSpPr>
          <p:cNvPr id="729141819" name=""/>
          <p:cNvSpPr>
            <a:spLocks noGrp="1"/>
          </p:cNvSpPr>
          <p:nvPr/>
        </p:nvSpPr>
        <p:spPr bwMode="auto">
          <a:xfrm>
            <a:off x="4267200" y="2095500"/>
            <a:ext cx="32385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12371341" name=""/>
          <p:cNvSpPr>
            <a:spLocks noGrp="1"/>
          </p:cNvSpPr>
          <p:nvPr/>
        </p:nvSpPr>
        <p:spPr bwMode="auto">
          <a:xfrm>
            <a:off x="4457700" y="2266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Cognito</a:t>
            </a:r>
            <a:endParaRPr/>
          </a:p>
        </p:txBody>
      </p:sp>
      <p:sp>
        <p:nvSpPr>
          <p:cNvPr id="980071776" name=""/>
          <p:cNvSpPr>
            <a:spLocks noGrp="1"/>
          </p:cNvSpPr>
          <p:nvPr/>
        </p:nvSpPr>
        <p:spPr bwMode="auto">
          <a:xfrm>
            <a:off x="4457700" y="2647949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Hosted UI + PKCE</a:t>
            </a:r>
            <a:endParaRPr/>
          </a:p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Admin group → role</a:t>
            </a:r>
            <a:endParaRPr/>
          </a:p>
        </p:txBody>
      </p:sp>
      <p:sp>
        <p:nvSpPr>
          <p:cNvPr id="7371296" name=""/>
          <p:cNvSpPr>
            <a:spLocks noGrp="1"/>
          </p:cNvSpPr>
          <p:nvPr/>
        </p:nvSpPr>
        <p:spPr bwMode="auto">
          <a:xfrm>
            <a:off x="7981950" y="2095500"/>
            <a:ext cx="32385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5285628" name=""/>
          <p:cNvSpPr>
            <a:spLocks noGrp="1"/>
          </p:cNvSpPr>
          <p:nvPr/>
        </p:nvSpPr>
        <p:spPr bwMode="auto">
          <a:xfrm>
            <a:off x="8172450" y="22669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EC2 API</a:t>
            </a:r>
            <a:endParaRPr/>
          </a:p>
        </p:txBody>
      </p:sp>
      <p:sp>
        <p:nvSpPr>
          <p:cNvPr id="30689858" name=""/>
          <p:cNvSpPr>
            <a:spLocks noGrp="1"/>
          </p:cNvSpPr>
          <p:nvPr/>
        </p:nvSpPr>
        <p:spPr bwMode="auto">
          <a:xfrm>
            <a:off x="8172450" y="2647949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Node/Express</a:t>
            </a:r>
            <a:endParaRPr/>
          </a:p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verifyToken backend</a:t>
            </a:r>
            <a:endParaRPr/>
          </a:p>
        </p:txBody>
      </p:sp>
      <p:sp>
        <p:nvSpPr>
          <p:cNvPr id="279913512" name=""/>
          <p:cNvSpPr>
            <a:spLocks noGrp="1"/>
          </p:cNvSpPr>
          <p:nvPr/>
        </p:nvSpPr>
        <p:spPr bwMode="auto">
          <a:xfrm>
            <a:off x="552450" y="3714750"/>
            <a:ext cx="32385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76041665" name=""/>
          <p:cNvSpPr>
            <a:spLocks noGrp="1"/>
          </p:cNvSpPr>
          <p:nvPr/>
        </p:nvSpPr>
        <p:spPr bwMode="auto">
          <a:xfrm>
            <a:off x="742950" y="38862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MySQL / RDS</a:t>
            </a:r>
            <a:endParaRPr/>
          </a:p>
        </p:txBody>
      </p:sp>
      <p:sp>
        <p:nvSpPr>
          <p:cNvPr id="221421274" name=""/>
          <p:cNvSpPr>
            <a:spLocks noGrp="1"/>
          </p:cNvSpPr>
          <p:nvPr/>
        </p:nvSpPr>
        <p:spPr bwMode="auto">
          <a:xfrm>
            <a:off x="742950" y="4267200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Parameterized access</a:t>
            </a:r>
            <a:endParaRPr/>
          </a:p>
          <a:p>
            <a:pPr algn="l">
              <a:defRPr sz="1450" b="0">
                <a:solidFill>
                  <a:srgbClr val="4B5563"/>
                </a:solidFill>
              </a:defRPr>
            </a:pPr>
            <a:r>
              <a:rPr sz="1450" b="0">
                <a:solidFill>
                  <a:srgbClr val="4B5563"/>
                </a:solidFill>
              </a:rPr>
              <a:t>least privilege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671701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1937641637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31</a:t>
            </a:r>
            <a:endParaRPr/>
          </a:p>
        </p:txBody>
      </p:sp>
      <p:sp>
        <p:nvSpPr>
          <p:cNvPr id="1720667691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Live demo path</a:t>
            </a:r>
            <a:endParaRPr/>
          </a:p>
        </p:txBody>
      </p:sp>
      <p:sp>
        <p:nvSpPr>
          <p:cNvPr id="1803901478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623450280" name=""/>
          <p:cNvSpPr>
            <a:spLocks noGrp="1"/>
          </p:cNvSpPr>
          <p:nvPr/>
        </p:nvSpPr>
        <p:spPr bwMode="auto">
          <a:xfrm>
            <a:off x="552450" y="20955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E85D2A"/>
                </a:solidFill>
              </a:defRPr>
            </a:pPr>
            <a:r>
              <a:rPr sz="19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993261786" name=""/>
          <p:cNvSpPr>
            <a:spLocks noGrp="1"/>
          </p:cNvSpPr>
          <p:nvPr/>
        </p:nvSpPr>
        <p:spPr bwMode="auto">
          <a:xfrm>
            <a:off x="857250" y="2095500"/>
            <a:ext cx="9982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Login with Cognito Hosted UI and browse as a normal user.</a:t>
            </a:r>
            <a:endParaRPr/>
          </a:p>
        </p:txBody>
      </p:sp>
      <p:sp>
        <p:nvSpPr>
          <p:cNvPr id="1654321799" name=""/>
          <p:cNvSpPr>
            <a:spLocks noGrp="1"/>
          </p:cNvSpPr>
          <p:nvPr/>
        </p:nvSpPr>
        <p:spPr bwMode="auto">
          <a:xfrm>
            <a:off x="552450" y="2695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E85D2A"/>
                </a:solidFill>
              </a:defRPr>
            </a:pPr>
            <a:r>
              <a:rPr sz="19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837063088" name=""/>
          <p:cNvSpPr>
            <a:spLocks noGrp="1"/>
          </p:cNvSpPr>
          <p:nvPr/>
        </p:nvSpPr>
        <p:spPr bwMode="auto">
          <a:xfrm>
            <a:off x="857250" y="2695575"/>
            <a:ext cx="9982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Attempt role escalation with POST /users type=Admin → rejected.</a:t>
            </a:r>
            <a:endParaRPr/>
          </a:p>
        </p:txBody>
      </p:sp>
      <p:sp>
        <p:nvSpPr>
          <p:cNvPr id="497057846" name=""/>
          <p:cNvSpPr>
            <a:spLocks noGrp="1"/>
          </p:cNvSpPr>
          <p:nvPr/>
        </p:nvSpPr>
        <p:spPr bwMode="auto">
          <a:xfrm>
            <a:off x="552450" y="32956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E85D2A"/>
                </a:solidFill>
              </a:defRPr>
            </a:pPr>
            <a:r>
              <a:rPr sz="19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812672293" name=""/>
          <p:cNvSpPr>
            <a:spLocks noGrp="1"/>
          </p:cNvSpPr>
          <p:nvPr/>
        </p:nvSpPr>
        <p:spPr bwMode="auto">
          <a:xfrm>
            <a:off x="857250" y="3295650"/>
            <a:ext cx="9982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Call protected admin route without a token → 401/403.</a:t>
            </a:r>
            <a:endParaRPr/>
          </a:p>
        </p:txBody>
      </p:sp>
      <p:sp>
        <p:nvSpPr>
          <p:cNvPr id="2103938629" name=""/>
          <p:cNvSpPr>
            <a:spLocks noGrp="1"/>
          </p:cNvSpPr>
          <p:nvPr/>
        </p:nvSpPr>
        <p:spPr bwMode="auto">
          <a:xfrm>
            <a:off x="552450" y="38957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E85D2A"/>
                </a:solidFill>
              </a:defRPr>
            </a:pPr>
            <a:r>
              <a:rPr sz="19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508092125" name=""/>
          <p:cNvSpPr>
            <a:spLocks noGrp="1"/>
          </p:cNvSpPr>
          <p:nvPr/>
        </p:nvSpPr>
        <p:spPr bwMode="auto">
          <a:xfrm>
            <a:off x="857250" y="3895725"/>
            <a:ext cx="9982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Re-run representative SQLi/XSS payloads → blocked or harmless.</a:t>
            </a:r>
            <a:endParaRPr/>
          </a:p>
        </p:txBody>
      </p:sp>
      <p:sp>
        <p:nvSpPr>
          <p:cNvPr id="564135173" name=""/>
          <p:cNvSpPr>
            <a:spLocks noGrp="1"/>
          </p:cNvSpPr>
          <p:nvPr/>
        </p:nvSpPr>
        <p:spPr bwMode="auto">
          <a:xfrm>
            <a:off x="552450" y="44958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E85D2A"/>
                </a:solidFill>
              </a:defRPr>
            </a:pPr>
            <a:r>
              <a:rPr sz="19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927420534" name=""/>
          <p:cNvSpPr>
            <a:spLocks noGrp="1"/>
          </p:cNvSpPr>
          <p:nvPr/>
        </p:nvSpPr>
        <p:spPr bwMode="auto">
          <a:xfrm>
            <a:off x="857250" y="4495800"/>
            <a:ext cx="9982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Trigger audit events and show structured security logs.</a:t>
            </a:r>
            <a:endParaRPr/>
          </a:p>
        </p:txBody>
      </p:sp>
      <p:sp>
        <p:nvSpPr>
          <p:cNvPr id="1299013681" name=""/>
          <p:cNvSpPr>
            <a:spLocks noGrp="1"/>
          </p:cNvSpPr>
          <p:nvPr/>
        </p:nvSpPr>
        <p:spPr bwMode="auto">
          <a:xfrm>
            <a:off x="552450" y="50958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1">
                <a:solidFill>
                  <a:srgbClr val="E85D2A"/>
                </a:solidFill>
              </a:defRPr>
            </a:pPr>
            <a:r>
              <a:rPr sz="19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47552096" name=""/>
          <p:cNvSpPr>
            <a:spLocks noGrp="1"/>
          </p:cNvSpPr>
          <p:nvPr/>
        </p:nvSpPr>
        <p:spPr bwMode="auto">
          <a:xfrm>
            <a:off x="857250" y="5095875"/>
            <a:ext cx="99822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Flash AWS evidence: Secrets Manager, EC2, S3/Amplify, Cognito.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9282129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966273363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23</a:t>
            </a:r>
            <a:endParaRPr/>
          </a:p>
        </p:txBody>
      </p:sp>
      <p:sp>
        <p:nvSpPr>
          <p:cNvPr id="589066082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What the demo is</a:t>
            </a:r>
            <a:endParaRPr/>
          </a:p>
        </p:txBody>
      </p:sp>
      <p:sp>
        <p:nvSpPr>
          <p:cNvPr id="722341787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711106023" name=""/>
          <p:cNvSpPr>
            <a:spLocks noGrp="1"/>
          </p:cNvSpPr>
          <p:nvPr/>
        </p:nvSpPr>
        <p:spPr bwMode="auto">
          <a:xfrm>
            <a:off x="552450" y="2076450"/>
            <a:ext cx="3257550" cy="242887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60043713" name=""/>
          <p:cNvSpPr>
            <a:spLocks noGrp="1"/>
          </p:cNvSpPr>
          <p:nvPr/>
        </p:nvSpPr>
        <p:spPr bwMode="auto">
          <a:xfrm>
            <a:off x="4467225" y="2076450"/>
            <a:ext cx="3257550" cy="2428875"/>
          </a:xfrm>
          <a:prstGeom prst="rect">
            <a:avLst/>
          </a:prstGeom>
          <a:solidFill>
            <a:srgbClr val="11182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63510070" name=""/>
          <p:cNvSpPr>
            <a:spLocks noGrp="1"/>
          </p:cNvSpPr>
          <p:nvPr/>
        </p:nvSpPr>
        <p:spPr bwMode="auto">
          <a:xfrm>
            <a:off x="8382000" y="2076450"/>
            <a:ext cx="3257550" cy="2428875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97251621" name=""/>
          <p:cNvSpPr>
            <a:spLocks noGrp="1"/>
          </p:cNvSpPr>
          <p:nvPr/>
        </p:nvSpPr>
        <p:spPr bwMode="auto">
          <a:xfrm>
            <a:off x="800100" y="2362199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B91C1C"/>
                </a:solidFill>
              </a:defRPr>
            </a:pPr>
            <a:r>
              <a:rPr sz="2100" b="1">
                <a:solidFill>
                  <a:srgbClr val="B91C1C"/>
                </a:solidFill>
              </a:rPr>
              <a:t>1. Raw file</a:t>
            </a:r>
            <a:endParaRPr/>
          </a:p>
        </p:txBody>
      </p:sp>
      <p:sp>
        <p:nvSpPr>
          <p:cNvPr id="1594282133" name=""/>
          <p:cNvSpPr>
            <a:spLocks noGrp="1"/>
          </p:cNvSpPr>
          <p:nvPr/>
        </p:nvSpPr>
        <p:spPr bwMode="auto">
          <a:xfrm>
            <a:off x="800100" y="29527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Open the vulnerable code or request and explain what trust boundary is broken.</a:t>
            </a:r>
            <a:endParaRPr/>
          </a:p>
        </p:txBody>
      </p:sp>
      <p:sp>
        <p:nvSpPr>
          <p:cNvPr id="124496838" name=""/>
          <p:cNvSpPr>
            <a:spLocks noGrp="1"/>
          </p:cNvSpPr>
          <p:nvPr/>
        </p:nvSpPr>
        <p:spPr bwMode="auto">
          <a:xfrm>
            <a:off x="4714875" y="2362199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2. Exploit</a:t>
            </a:r>
            <a:endParaRPr/>
          </a:p>
        </p:txBody>
      </p:sp>
      <p:sp>
        <p:nvSpPr>
          <p:cNvPr id="927740230" name=""/>
          <p:cNvSpPr>
            <a:spLocks noGrp="1"/>
          </p:cNvSpPr>
          <p:nvPr/>
        </p:nvSpPr>
        <p:spPr bwMode="auto">
          <a:xfrm>
            <a:off x="4714875" y="29527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E5E7EB"/>
                </a:solidFill>
              </a:defRPr>
            </a:pPr>
            <a:r>
              <a:rPr sz="1750" b="0">
                <a:solidFill>
                  <a:srgbClr val="E5E7EB"/>
                </a:solidFill>
              </a:rPr>
              <a:t>Act as a malicious user using Bruno, browser DevTools, terminal output, or database evidence.</a:t>
            </a:r>
            <a:endParaRPr/>
          </a:p>
        </p:txBody>
      </p:sp>
      <p:sp>
        <p:nvSpPr>
          <p:cNvPr id="1085196957" name=""/>
          <p:cNvSpPr>
            <a:spLocks noGrp="1"/>
          </p:cNvSpPr>
          <p:nvPr/>
        </p:nvSpPr>
        <p:spPr bwMode="auto">
          <a:xfrm>
            <a:off x="8629650" y="2362199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47857"/>
                </a:solidFill>
              </a:defRPr>
            </a:pPr>
            <a:r>
              <a:rPr sz="2100" b="1">
                <a:solidFill>
                  <a:srgbClr val="047857"/>
                </a:solidFill>
              </a:rPr>
              <a:t>3. Solved</a:t>
            </a:r>
            <a:endParaRPr/>
          </a:p>
        </p:txBody>
      </p:sp>
      <p:sp>
        <p:nvSpPr>
          <p:cNvPr id="1899108595" name=""/>
          <p:cNvSpPr>
            <a:spLocks noGrp="1"/>
          </p:cNvSpPr>
          <p:nvPr/>
        </p:nvSpPr>
        <p:spPr bwMode="auto">
          <a:xfrm>
            <a:off x="8629650" y="2952750"/>
            <a:ext cx="2476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111827"/>
                </a:solidFill>
              </a:defRPr>
            </a:pPr>
            <a:r>
              <a:rPr sz="1750" b="0">
                <a:solidFill>
                  <a:srgbClr val="111827"/>
                </a:solidFill>
              </a:rPr>
              <a:t>Switch to the fixed version and show the same action is rejected, harmless, or logged safely.</a:t>
            </a:r>
            <a:endParaRPr/>
          </a:p>
        </p:txBody>
      </p:sp>
      <p:sp>
        <p:nvSpPr>
          <p:cNvPr id="748601656" name=""/>
          <p:cNvSpPr>
            <a:spLocks noGrp="1"/>
          </p:cNvSpPr>
          <p:nvPr/>
        </p:nvSpPr>
        <p:spPr bwMode="auto">
          <a:xfrm>
            <a:off x="552450" y="533400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00" b="0">
                <a:solidFill>
                  <a:srgbClr val="4B5563"/>
                </a:solidFill>
              </a:defRPr>
            </a:pPr>
            <a:r>
              <a:rPr sz="1900" b="0">
                <a:solidFill>
                  <a:srgbClr val="4B5563"/>
                </a:solidFill>
              </a:rPr>
              <a:t>Use one fast example per OWASP category. The story is: this was exploitable, this is how, this is how we fixed it.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015482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2145536998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24</a:t>
            </a:r>
            <a:endParaRPr/>
          </a:p>
        </p:txBody>
      </p:sp>
      <p:sp>
        <p:nvSpPr>
          <p:cNvPr id="1432050590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A01 — Broken Access Control</a:t>
            </a:r>
            <a:endParaRPr/>
          </a:p>
        </p:txBody>
      </p:sp>
      <p:sp>
        <p:nvSpPr>
          <p:cNvPr id="2115885545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727850825" name=""/>
          <p:cNvSpPr>
            <a:spLocks noGrp="1"/>
          </p:cNvSpPr>
          <p:nvPr/>
        </p:nvSpPr>
        <p:spPr bwMode="auto">
          <a:xfrm>
            <a:off x="552450" y="2095500"/>
            <a:ext cx="3238500" cy="300037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94486574" name=""/>
          <p:cNvSpPr>
            <a:spLocks noGrp="1"/>
          </p:cNvSpPr>
          <p:nvPr/>
        </p:nvSpPr>
        <p:spPr bwMode="auto">
          <a:xfrm>
            <a:off x="7620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  <a:endParaRPr/>
          </a:p>
        </p:txBody>
      </p:sp>
      <p:sp>
        <p:nvSpPr>
          <p:cNvPr id="1399461682" name=""/>
          <p:cNvSpPr>
            <a:spLocks noGrp="1"/>
          </p:cNvSpPr>
          <p:nvPr/>
        </p:nvSpPr>
        <p:spPr bwMode="auto">
          <a:xfrm>
            <a:off x="7620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Find route files with missing verifyToken / requireAdmin, then show CSS-only admin hiding in the frontend.</a:t>
            </a:r>
            <a:endParaRPr/>
          </a:p>
        </p:txBody>
      </p:sp>
      <p:sp>
        <p:nvSpPr>
          <p:cNvPr id="818772092" name=""/>
          <p:cNvSpPr>
            <a:spLocks noGrp="1"/>
          </p:cNvSpPr>
          <p:nvPr/>
        </p:nvSpPr>
        <p:spPr bwMode="auto">
          <a:xfrm>
            <a:off x="4267200" y="2095500"/>
            <a:ext cx="3238500" cy="300037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26071631" name=""/>
          <p:cNvSpPr>
            <a:spLocks noGrp="1"/>
          </p:cNvSpPr>
          <p:nvPr/>
        </p:nvSpPr>
        <p:spPr bwMode="auto">
          <a:xfrm>
            <a:off x="447675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  <a:endParaRPr/>
          </a:p>
        </p:txBody>
      </p:sp>
      <p:sp>
        <p:nvSpPr>
          <p:cNvPr id="1961492733" name=""/>
          <p:cNvSpPr>
            <a:spLocks noGrp="1"/>
          </p:cNvSpPr>
          <p:nvPr/>
        </p:nvSpPr>
        <p:spPr bwMode="auto">
          <a:xfrm>
            <a:off x="447675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In Bruno, call an admin endpoint without login: create an Admin user, delete a game, or fetch /users.</a:t>
            </a:r>
            <a:endParaRPr/>
          </a:p>
        </p:txBody>
      </p:sp>
      <p:sp>
        <p:nvSpPr>
          <p:cNvPr id="1126245260" name=""/>
          <p:cNvSpPr>
            <a:spLocks noGrp="1"/>
          </p:cNvSpPr>
          <p:nvPr/>
        </p:nvSpPr>
        <p:spPr bwMode="auto">
          <a:xfrm>
            <a:off x="7981950" y="2095500"/>
            <a:ext cx="3238500" cy="3000375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12415046" name=""/>
          <p:cNvSpPr>
            <a:spLocks noGrp="1"/>
          </p:cNvSpPr>
          <p:nvPr/>
        </p:nvSpPr>
        <p:spPr bwMode="auto">
          <a:xfrm>
            <a:off x="81915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  <a:endParaRPr/>
          </a:p>
        </p:txBody>
      </p:sp>
      <p:sp>
        <p:nvSpPr>
          <p:cNvPr id="263761332" name=""/>
          <p:cNvSpPr>
            <a:spLocks noGrp="1"/>
          </p:cNvSpPr>
          <p:nvPr/>
        </p:nvSpPr>
        <p:spPr bwMode="auto">
          <a:xfrm>
            <a:off x="81915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Add auth middleware and RBAC. Re-run the same request and show 401/403; /users no longer returns passwords.</a:t>
            </a:r>
            <a:endParaRPr/>
          </a:p>
        </p:txBody>
      </p:sp>
      <p:sp>
        <p:nvSpPr>
          <p:cNvPr id="1460248286" name=""/>
          <p:cNvSpPr>
            <a:spLocks noGrp="1"/>
          </p:cNvSpPr>
          <p:nvPr/>
        </p:nvSpPr>
        <p:spPr bwMode="auto">
          <a:xfrm>
            <a:off x="552450" y="5638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8070505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1566924817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25</a:t>
            </a:r>
            <a:endParaRPr/>
          </a:p>
        </p:txBody>
      </p:sp>
      <p:sp>
        <p:nvSpPr>
          <p:cNvPr id="249952318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A04 — Insecure Design</a:t>
            </a:r>
            <a:endParaRPr/>
          </a:p>
        </p:txBody>
      </p:sp>
      <p:sp>
        <p:nvSpPr>
          <p:cNvPr id="166821204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852704204" name=""/>
          <p:cNvSpPr>
            <a:spLocks noGrp="1"/>
          </p:cNvSpPr>
          <p:nvPr/>
        </p:nvSpPr>
        <p:spPr bwMode="auto">
          <a:xfrm>
            <a:off x="552450" y="2095500"/>
            <a:ext cx="3238500" cy="300037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79562205" name=""/>
          <p:cNvSpPr>
            <a:spLocks noGrp="1"/>
          </p:cNvSpPr>
          <p:nvPr/>
        </p:nvSpPr>
        <p:spPr bwMode="auto">
          <a:xfrm>
            <a:off x="7620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  <a:endParaRPr/>
          </a:p>
        </p:txBody>
      </p:sp>
      <p:sp>
        <p:nvSpPr>
          <p:cNvPr id="640884232" name=""/>
          <p:cNvSpPr>
            <a:spLocks noGrp="1"/>
          </p:cNvSpPr>
          <p:nvPr/>
        </p:nvSpPr>
        <p:spPr bwMode="auto">
          <a:xfrm>
            <a:off x="7620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Open registration request/body where client can send type: Admin and frontend decides admin visibility.</a:t>
            </a:r>
            <a:endParaRPr/>
          </a:p>
        </p:txBody>
      </p:sp>
      <p:sp>
        <p:nvSpPr>
          <p:cNvPr id="193229921" name=""/>
          <p:cNvSpPr>
            <a:spLocks noGrp="1"/>
          </p:cNvSpPr>
          <p:nvPr/>
        </p:nvSpPr>
        <p:spPr bwMode="auto">
          <a:xfrm>
            <a:off x="4267200" y="2095500"/>
            <a:ext cx="3238500" cy="300037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55142332" name=""/>
          <p:cNvSpPr>
            <a:spLocks noGrp="1"/>
          </p:cNvSpPr>
          <p:nvPr/>
        </p:nvSpPr>
        <p:spPr bwMode="auto">
          <a:xfrm>
            <a:off x="447675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  <a:endParaRPr/>
          </a:p>
        </p:txBody>
      </p:sp>
      <p:sp>
        <p:nvSpPr>
          <p:cNvPr id="167527014" name=""/>
          <p:cNvSpPr>
            <a:spLocks noGrp="1"/>
          </p:cNvSpPr>
          <p:nvPr/>
        </p:nvSpPr>
        <p:spPr bwMode="auto">
          <a:xfrm>
            <a:off x="447675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Send POST /users with type=Admin or reveal hidden admin panel through DevTools/CSS tampering.</a:t>
            </a:r>
            <a:endParaRPr/>
          </a:p>
        </p:txBody>
      </p:sp>
      <p:sp>
        <p:nvSpPr>
          <p:cNvPr id="571331452" name=""/>
          <p:cNvSpPr>
            <a:spLocks noGrp="1"/>
          </p:cNvSpPr>
          <p:nvPr/>
        </p:nvSpPr>
        <p:spPr bwMode="auto">
          <a:xfrm>
            <a:off x="7981950" y="2095500"/>
            <a:ext cx="3238500" cy="3000375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45445511" name=""/>
          <p:cNvSpPr>
            <a:spLocks noGrp="1"/>
          </p:cNvSpPr>
          <p:nvPr/>
        </p:nvSpPr>
        <p:spPr bwMode="auto">
          <a:xfrm>
            <a:off x="81915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  <a:endParaRPr/>
          </a:p>
        </p:txBody>
      </p:sp>
      <p:sp>
        <p:nvSpPr>
          <p:cNvPr id="2143939899" name=""/>
          <p:cNvSpPr>
            <a:spLocks noGrp="1"/>
          </p:cNvSpPr>
          <p:nvPr/>
        </p:nvSpPr>
        <p:spPr bwMode="auto">
          <a:xfrm>
            <a:off x="81915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Server ignores client role and assigns default user role. requireAdmin protects admin actions even if UI is modified.</a:t>
            </a:r>
            <a:endParaRPr/>
          </a:p>
        </p:txBody>
      </p:sp>
      <p:sp>
        <p:nvSpPr>
          <p:cNvPr id="965328126" name=""/>
          <p:cNvSpPr>
            <a:spLocks noGrp="1"/>
          </p:cNvSpPr>
          <p:nvPr/>
        </p:nvSpPr>
        <p:spPr bwMode="auto">
          <a:xfrm>
            <a:off x="552450" y="5638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985535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307921605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26</a:t>
            </a:r>
            <a:endParaRPr/>
          </a:p>
        </p:txBody>
      </p:sp>
      <p:sp>
        <p:nvSpPr>
          <p:cNvPr id="1774064599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A03 — Injection</a:t>
            </a:r>
            <a:endParaRPr/>
          </a:p>
        </p:txBody>
      </p:sp>
      <p:sp>
        <p:nvSpPr>
          <p:cNvPr id="1591936006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130002987" name=""/>
          <p:cNvSpPr>
            <a:spLocks noGrp="1"/>
          </p:cNvSpPr>
          <p:nvPr/>
        </p:nvSpPr>
        <p:spPr bwMode="auto">
          <a:xfrm>
            <a:off x="552450" y="2095500"/>
            <a:ext cx="3238500" cy="300037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1993909" name=""/>
          <p:cNvSpPr>
            <a:spLocks noGrp="1"/>
          </p:cNvSpPr>
          <p:nvPr/>
        </p:nvSpPr>
        <p:spPr bwMode="auto">
          <a:xfrm>
            <a:off x="7620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  <a:endParaRPr/>
          </a:p>
        </p:txBody>
      </p:sp>
      <p:sp>
        <p:nvSpPr>
          <p:cNvPr id="1374388199" name=""/>
          <p:cNvSpPr>
            <a:spLocks noGrp="1"/>
          </p:cNvSpPr>
          <p:nvPr/>
        </p:nvSpPr>
        <p:spPr bwMode="auto">
          <a:xfrm>
            <a:off x="7620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Open raw SQL string concatenation or innerHTML rendering for reviews/game text.</a:t>
            </a:r>
            <a:endParaRPr/>
          </a:p>
        </p:txBody>
      </p:sp>
      <p:sp>
        <p:nvSpPr>
          <p:cNvPr id="1230081094" name=""/>
          <p:cNvSpPr>
            <a:spLocks noGrp="1"/>
          </p:cNvSpPr>
          <p:nvPr/>
        </p:nvSpPr>
        <p:spPr bwMode="auto">
          <a:xfrm>
            <a:off x="4267200" y="2095500"/>
            <a:ext cx="3238500" cy="300037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63612501" name=""/>
          <p:cNvSpPr>
            <a:spLocks noGrp="1"/>
          </p:cNvSpPr>
          <p:nvPr/>
        </p:nvSpPr>
        <p:spPr bwMode="auto">
          <a:xfrm>
            <a:off x="447675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  <a:endParaRPr/>
          </a:p>
        </p:txBody>
      </p:sp>
      <p:sp>
        <p:nvSpPr>
          <p:cNvPr id="1633907192" name=""/>
          <p:cNvSpPr>
            <a:spLocks noGrp="1"/>
          </p:cNvSpPr>
          <p:nvPr/>
        </p:nvSpPr>
        <p:spPr bwMode="auto">
          <a:xfrm>
            <a:off x="447675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Use Bruno payload ' OR 1=1 -- for SQLi, then show stored XSS with &lt;script&gt;alert(1)&lt;/script&gt; or a safe screenshot.</a:t>
            </a:r>
            <a:endParaRPr/>
          </a:p>
        </p:txBody>
      </p:sp>
      <p:sp>
        <p:nvSpPr>
          <p:cNvPr id="259443062" name=""/>
          <p:cNvSpPr>
            <a:spLocks noGrp="1"/>
          </p:cNvSpPr>
          <p:nvPr/>
        </p:nvSpPr>
        <p:spPr bwMode="auto">
          <a:xfrm>
            <a:off x="7981950" y="2095500"/>
            <a:ext cx="3238500" cy="3000375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09116302" name=""/>
          <p:cNvSpPr>
            <a:spLocks noGrp="1"/>
          </p:cNvSpPr>
          <p:nvPr/>
        </p:nvSpPr>
        <p:spPr bwMode="auto">
          <a:xfrm>
            <a:off x="81915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  <a:endParaRPr/>
          </a:p>
        </p:txBody>
      </p:sp>
      <p:sp>
        <p:nvSpPr>
          <p:cNvPr id="380585358" name=""/>
          <p:cNvSpPr>
            <a:spLocks noGrp="1"/>
          </p:cNvSpPr>
          <p:nvPr/>
        </p:nvSpPr>
        <p:spPr bwMode="auto">
          <a:xfrm>
            <a:off x="81915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Use ? placeholders, validation, and safe rendering. Same payload becomes rejected or displayed as harmless text.</a:t>
            </a:r>
            <a:endParaRPr/>
          </a:p>
        </p:txBody>
      </p:sp>
      <p:sp>
        <p:nvSpPr>
          <p:cNvPr id="1087047849" name=""/>
          <p:cNvSpPr>
            <a:spLocks noGrp="1"/>
          </p:cNvSpPr>
          <p:nvPr/>
        </p:nvSpPr>
        <p:spPr bwMode="auto">
          <a:xfrm>
            <a:off x="552450" y="5638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193595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464718947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27</a:t>
            </a:r>
            <a:endParaRPr/>
          </a:p>
        </p:txBody>
      </p:sp>
      <p:sp>
        <p:nvSpPr>
          <p:cNvPr id="632401363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A07 — Authentication Failures</a:t>
            </a:r>
            <a:endParaRPr/>
          </a:p>
        </p:txBody>
      </p:sp>
      <p:sp>
        <p:nvSpPr>
          <p:cNvPr id="1318425139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63446093" name=""/>
          <p:cNvSpPr>
            <a:spLocks noGrp="1"/>
          </p:cNvSpPr>
          <p:nvPr/>
        </p:nvSpPr>
        <p:spPr bwMode="auto">
          <a:xfrm>
            <a:off x="552450" y="2095500"/>
            <a:ext cx="3238500" cy="300037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43107233" name=""/>
          <p:cNvSpPr>
            <a:spLocks noGrp="1"/>
          </p:cNvSpPr>
          <p:nvPr/>
        </p:nvSpPr>
        <p:spPr bwMode="auto">
          <a:xfrm>
            <a:off x="7620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  <a:endParaRPr/>
          </a:p>
        </p:txBody>
      </p:sp>
      <p:sp>
        <p:nvSpPr>
          <p:cNvPr id="393036449" name=""/>
          <p:cNvSpPr>
            <a:spLocks noGrp="1"/>
          </p:cNvSpPr>
          <p:nvPr/>
        </p:nvSpPr>
        <p:spPr bwMode="auto">
          <a:xfrm>
            <a:off x="7620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Show plaintext password record, localStorage token, Remember Me password, or hardcoded JWT secret.</a:t>
            </a:r>
            <a:endParaRPr/>
          </a:p>
        </p:txBody>
      </p:sp>
      <p:sp>
        <p:nvSpPr>
          <p:cNvPr id="1415696823" name=""/>
          <p:cNvSpPr>
            <a:spLocks noGrp="1"/>
          </p:cNvSpPr>
          <p:nvPr/>
        </p:nvSpPr>
        <p:spPr bwMode="auto">
          <a:xfrm>
            <a:off x="4267200" y="2095500"/>
            <a:ext cx="3238500" cy="300037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42203711" name=""/>
          <p:cNvSpPr>
            <a:spLocks noGrp="1"/>
          </p:cNvSpPr>
          <p:nvPr/>
        </p:nvSpPr>
        <p:spPr bwMode="auto">
          <a:xfrm>
            <a:off x="447675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  <a:endParaRPr/>
          </a:p>
        </p:txBody>
      </p:sp>
      <p:sp>
        <p:nvSpPr>
          <p:cNvPr id="1167219076" name=""/>
          <p:cNvSpPr>
            <a:spLocks noGrp="1"/>
          </p:cNvSpPr>
          <p:nvPr/>
        </p:nvSpPr>
        <p:spPr bwMode="auto">
          <a:xfrm>
            <a:off x="447675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Explain attacker path: DB leak exposes passwords; XSS reads localStorage token; forged JWT uses known secret.</a:t>
            </a:r>
            <a:endParaRPr/>
          </a:p>
        </p:txBody>
      </p:sp>
      <p:sp>
        <p:nvSpPr>
          <p:cNvPr id="1349770087" name=""/>
          <p:cNvSpPr>
            <a:spLocks noGrp="1"/>
          </p:cNvSpPr>
          <p:nvPr/>
        </p:nvSpPr>
        <p:spPr bwMode="auto">
          <a:xfrm>
            <a:off x="7981950" y="2095500"/>
            <a:ext cx="3238500" cy="3000375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68006048" name=""/>
          <p:cNvSpPr>
            <a:spLocks noGrp="1"/>
          </p:cNvSpPr>
          <p:nvPr/>
        </p:nvSpPr>
        <p:spPr bwMode="auto">
          <a:xfrm>
            <a:off x="81915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  <a:endParaRPr/>
          </a:p>
        </p:txBody>
      </p:sp>
      <p:sp>
        <p:nvSpPr>
          <p:cNvPr id="42309125" name=""/>
          <p:cNvSpPr>
            <a:spLocks noGrp="1"/>
          </p:cNvSpPr>
          <p:nvPr/>
        </p:nvSpPr>
        <p:spPr bwMode="auto">
          <a:xfrm>
            <a:off x="81915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Use bcrypt, Cognito Hosted UI + PKCE, JWKS verification, env secrets, and recommend httpOnly secure cookies.</a:t>
            </a:r>
            <a:endParaRPr/>
          </a:p>
        </p:txBody>
      </p:sp>
      <p:sp>
        <p:nvSpPr>
          <p:cNvPr id="475677343" name=""/>
          <p:cNvSpPr>
            <a:spLocks noGrp="1"/>
          </p:cNvSpPr>
          <p:nvPr/>
        </p:nvSpPr>
        <p:spPr bwMode="auto">
          <a:xfrm>
            <a:off x="552450" y="5638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50178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Demo</a:t>
            </a:r>
            <a:endParaRPr/>
          </a:p>
        </p:txBody>
      </p:sp>
      <p:sp>
        <p:nvSpPr>
          <p:cNvPr id="322861304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28</a:t>
            </a:r>
            <a:endParaRPr/>
          </a:p>
        </p:txBody>
      </p:sp>
      <p:sp>
        <p:nvSpPr>
          <p:cNvPr id="2001958612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A09 — Logging &amp; Monitoring Failures</a:t>
            </a:r>
            <a:endParaRPr/>
          </a:p>
        </p:txBody>
      </p:sp>
      <p:sp>
        <p:nvSpPr>
          <p:cNvPr id="574701998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847388260" name=""/>
          <p:cNvSpPr>
            <a:spLocks noGrp="1"/>
          </p:cNvSpPr>
          <p:nvPr/>
        </p:nvSpPr>
        <p:spPr bwMode="auto">
          <a:xfrm>
            <a:off x="552450" y="2095500"/>
            <a:ext cx="3238500" cy="3000375"/>
          </a:xfrm>
          <a:prstGeom prst="rect">
            <a:avLst/>
          </a:prstGeom>
          <a:solidFill>
            <a:srgbClr val="FFF1ED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65912692" name=""/>
          <p:cNvSpPr>
            <a:spLocks noGrp="1"/>
          </p:cNvSpPr>
          <p:nvPr/>
        </p:nvSpPr>
        <p:spPr bwMode="auto">
          <a:xfrm>
            <a:off x="7620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Raw vulnerable file</a:t>
            </a:r>
            <a:endParaRPr/>
          </a:p>
        </p:txBody>
      </p:sp>
      <p:sp>
        <p:nvSpPr>
          <p:cNvPr id="444218787" name=""/>
          <p:cNvSpPr>
            <a:spLocks noGrp="1"/>
          </p:cNvSpPr>
          <p:nvPr/>
        </p:nvSpPr>
        <p:spPr bwMode="auto">
          <a:xfrm>
            <a:off x="7620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Show console.log(err), specific username/email errors, and missing audit events in raw version.</a:t>
            </a:r>
            <a:endParaRPr/>
          </a:p>
        </p:txBody>
      </p:sp>
      <p:sp>
        <p:nvSpPr>
          <p:cNvPr id="1980852430" name=""/>
          <p:cNvSpPr>
            <a:spLocks noGrp="1"/>
          </p:cNvSpPr>
          <p:nvPr/>
        </p:nvSpPr>
        <p:spPr bwMode="auto">
          <a:xfrm>
            <a:off x="4267200" y="2095500"/>
            <a:ext cx="3238500" cy="3000375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11199745" name=""/>
          <p:cNvSpPr>
            <a:spLocks noGrp="1"/>
          </p:cNvSpPr>
          <p:nvPr/>
        </p:nvSpPr>
        <p:spPr bwMode="auto">
          <a:xfrm>
            <a:off x="447675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0F19"/>
                </a:solidFill>
              </a:defRPr>
            </a:pPr>
            <a:r>
              <a:rPr sz="1800" b="1">
                <a:solidFill>
                  <a:srgbClr val="0B0F19"/>
                </a:solidFill>
              </a:rPr>
              <a:t>Malicious user exploit</a:t>
            </a:r>
            <a:endParaRPr/>
          </a:p>
        </p:txBody>
      </p:sp>
      <p:sp>
        <p:nvSpPr>
          <p:cNvPr id="553500212" name=""/>
          <p:cNvSpPr>
            <a:spLocks noGrp="1"/>
          </p:cNvSpPr>
          <p:nvPr/>
        </p:nvSpPr>
        <p:spPr bwMode="auto">
          <a:xfrm>
            <a:off x="447675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Trigger failed registration/login/review actions and show enumeration or unsafe logs.</a:t>
            </a:r>
            <a:endParaRPr/>
          </a:p>
        </p:txBody>
      </p:sp>
      <p:sp>
        <p:nvSpPr>
          <p:cNvPr id="1973034763" name=""/>
          <p:cNvSpPr>
            <a:spLocks noGrp="1"/>
          </p:cNvSpPr>
          <p:nvPr/>
        </p:nvSpPr>
        <p:spPr bwMode="auto">
          <a:xfrm>
            <a:off x="7981950" y="2095500"/>
            <a:ext cx="3238500" cy="3000375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91821006" name=""/>
          <p:cNvSpPr>
            <a:spLocks noGrp="1"/>
          </p:cNvSpPr>
          <p:nvPr/>
        </p:nvSpPr>
        <p:spPr bwMode="auto">
          <a:xfrm>
            <a:off x="8191500" y="2362199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47857"/>
                </a:solidFill>
              </a:defRPr>
            </a:pPr>
            <a:r>
              <a:rPr sz="1800" b="1">
                <a:solidFill>
                  <a:srgbClr val="047857"/>
                </a:solidFill>
              </a:rPr>
              <a:t>Addressed / solved</a:t>
            </a:r>
            <a:endParaRPr/>
          </a:p>
        </p:txBody>
      </p:sp>
      <p:sp>
        <p:nvSpPr>
          <p:cNvPr id="1914249641" name=""/>
          <p:cNvSpPr>
            <a:spLocks noGrp="1"/>
          </p:cNvSpPr>
          <p:nvPr/>
        </p:nvSpPr>
        <p:spPr bwMode="auto">
          <a:xfrm>
            <a:off x="8191500" y="2952750"/>
            <a:ext cx="26860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111827"/>
                </a:solidFill>
              </a:defRPr>
            </a:pPr>
            <a:r>
              <a:rPr sz="1600" b="0">
                <a:solidFill>
                  <a:srgbClr val="111827"/>
                </a:solidFill>
              </a:rPr>
              <a:t>Use audit(), safeError(), generic 422 messages, review ownership checks, and CloudWatch/centralised retention for production.</a:t>
            </a:r>
            <a:endParaRPr/>
          </a:p>
        </p:txBody>
      </p:sp>
      <p:sp>
        <p:nvSpPr>
          <p:cNvPr id="2140567217" name=""/>
          <p:cNvSpPr>
            <a:spLocks noGrp="1"/>
          </p:cNvSpPr>
          <p:nvPr/>
        </p:nvSpPr>
        <p:spPr bwMode="auto">
          <a:xfrm>
            <a:off x="552450" y="56388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Presenter cue: keep each exploit under one minute; show screenshots if the live environment is unstable.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116646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Close</a:t>
            </a:r>
            <a:endParaRPr/>
          </a:p>
        </p:txBody>
      </p:sp>
      <p:sp>
        <p:nvSpPr>
          <p:cNvPr id="53976731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29</a:t>
            </a:r>
            <a:endParaRPr/>
          </a:p>
        </p:txBody>
      </p:sp>
      <p:sp>
        <p:nvSpPr>
          <p:cNvPr id="1697343203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Conclusion and remaining work</a:t>
            </a:r>
            <a:endParaRPr/>
          </a:p>
        </p:txBody>
      </p:sp>
      <p:sp>
        <p:nvSpPr>
          <p:cNvPr id="561354198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1120839288" name=""/>
          <p:cNvSpPr>
            <a:spLocks noGrp="1"/>
          </p:cNvSpPr>
          <p:nvPr/>
        </p:nvSpPr>
        <p:spPr bwMode="auto">
          <a:xfrm>
            <a:off x="552450" y="21431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Before</a:t>
            </a:r>
            <a:endParaRPr/>
          </a:p>
        </p:txBody>
      </p:sp>
      <p:sp>
        <p:nvSpPr>
          <p:cNvPr id="707900603" name=""/>
          <p:cNvSpPr>
            <a:spLocks noGrp="1"/>
          </p:cNvSpPr>
          <p:nvPr/>
        </p:nvSpPr>
        <p:spPr bwMode="auto">
          <a:xfrm>
            <a:off x="552450" y="2762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88646727" name=""/>
          <p:cNvSpPr>
            <a:spLocks noGrp="1"/>
          </p:cNvSpPr>
          <p:nvPr/>
        </p:nvSpPr>
        <p:spPr bwMode="auto">
          <a:xfrm>
            <a:off x="857250" y="2762250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Client-side trust</a:t>
            </a:r>
            <a:endParaRPr/>
          </a:p>
        </p:txBody>
      </p:sp>
      <p:sp>
        <p:nvSpPr>
          <p:cNvPr id="1267289935" name=""/>
          <p:cNvSpPr>
            <a:spLocks noGrp="1"/>
          </p:cNvSpPr>
          <p:nvPr/>
        </p:nvSpPr>
        <p:spPr bwMode="auto">
          <a:xfrm>
            <a:off x="552450" y="32766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752232081" name=""/>
          <p:cNvSpPr>
            <a:spLocks noGrp="1"/>
          </p:cNvSpPr>
          <p:nvPr/>
        </p:nvSpPr>
        <p:spPr bwMode="auto">
          <a:xfrm>
            <a:off x="857250" y="3276600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Raw SQL paths</a:t>
            </a:r>
            <a:endParaRPr/>
          </a:p>
        </p:txBody>
      </p:sp>
      <p:sp>
        <p:nvSpPr>
          <p:cNvPr id="1341773337" name=""/>
          <p:cNvSpPr>
            <a:spLocks noGrp="1"/>
          </p:cNvSpPr>
          <p:nvPr/>
        </p:nvSpPr>
        <p:spPr bwMode="auto">
          <a:xfrm>
            <a:off x="552450" y="3790949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1333182" name=""/>
          <p:cNvSpPr>
            <a:spLocks noGrp="1"/>
          </p:cNvSpPr>
          <p:nvPr/>
        </p:nvSpPr>
        <p:spPr bwMode="auto">
          <a:xfrm>
            <a:off x="857250" y="3790949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Plaintext credentials</a:t>
            </a:r>
            <a:endParaRPr/>
          </a:p>
        </p:txBody>
      </p:sp>
      <p:sp>
        <p:nvSpPr>
          <p:cNvPr id="680407032" name=""/>
          <p:cNvSpPr>
            <a:spLocks noGrp="1"/>
          </p:cNvSpPr>
          <p:nvPr/>
        </p:nvSpPr>
        <p:spPr bwMode="auto">
          <a:xfrm>
            <a:off x="552450" y="4305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654443229" name=""/>
          <p:cNvSpPr>
            <a:spLocks noGrp="1"/>
          </p:cNvSpPr>
          <p:nvPr/>
        </p:nvSpPr>
        <p:spPr bwMode="auto">
          <a:xfrm>
            <a:off x="857250" y="4305300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Console-only security visibility</a:t>
            </a:r>
            <a:endParaRPr/>
          </a:p>
        </p:txBody>
      </p:sp>
      <p:sp>
        <p:nvSpPr>
          <p:cNvPr id="724922128" name=""/>
          <p:cNvSpPr>
            <a:spLocks noGrp="1"/>
          </p:cNvSpPr>
          <p:nvPr/>
        </p:nvSpPr>
        <p:spPr bwMode="auto">
          <a:xfrm>
            <a:off x="6572250" y="2143125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47857"/>
                </a:solidFill>
              </a:defRPr>
            </a:pPr>
            <a:r>
              <a:rPr sz="2250" b="1">
                <a:solidFill>
                  <a:srgbClr val="047857"/>
                </a:solidFill>
              </a:rPr>
              <a:t>After</a:t>
            </a:r>
            <a:endParaRPr/>
          </a:p>
        </p:txBody>
      </p:sp>
      <p:sp>
        <p:nvSpPr>
          <p:cNvPr id="1758301001" name=""/>
          <p:cNvSpPr>
            <a:spLocks noGrp="1"/>
          </p:cNvSpPr>
          <p:nvPr/>
        </p:nvSpPr>
        <p:spPr bwMode="auto">
          <a:xfrm>
            <a:off x="6572250" y="27622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627007969" name=""/>
          <p:cNvSpPr>
            <a:spLocks noGrp="1"/>
          </p:cNvSpPr>
          <p:nvPr/>
        </p:nvSpPr>
        <p:spPr bwMode="auto">
          <a:xfrm>
            <a:off x="6877050" y="2762250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Server-side RBAC</a:t>
            </a:r>
            <a:endParaRPr/>
          </a:p>
        </p:txBody>
      </p:sp>
      <p:sp>
        <p:nvSpPr>
          <p:cNvPr id="1121064178" name=""/>
          <p:cNvSpPr>
            <a:spLocks noGrp="1"/>
          </p:cNvSpPr>
          <p:nvPr/>
        </p:nvSpPr>
        <p:spPr bwMode="auto">
          <a:xfrm>
            <a:off x="6572250" y="32766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106902900" name=""/>
          <p:cNvSpPr>
            <a:spLocks noGrp="1"/>
          </p:cNvSpPr>
          <p:nvPr/>
        </p:nvSpPr>
        <p:spPr bwMode="auto">
          <a:xfrm>
            <a:off x="6877050" y="3276600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Parameterized SQL</a:t>
            </a:r>
            <a:endParaRPr/>
          </a:p>
        </p:txBody>
      </p:sp>
      <p:sp>
        <p:nvSpPr>
          <p:cNvPr id="1250381311" name=""/>
          <p:cNvSpPr>
            <a:spLocks noGrp="1"/>
          </p:cNvSpPr>
          <p:nvPr/>
        </p:nvSpPr>
        <p:spPr bwMode="auto">
          <a:xfrm>
            <a:off x="6572250" y="3790949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218766591" name=""/>
          <p:cNvSpPr>
            <a:spLocks noGrp="1"/>
          </p:cNvSpPr>
          <p:nvPr/>
        </p:nvSpPr>
        <p:spPr bwMode="auto">
          <a:xfrm>
            <a:off x="6877050" y="3790949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Cognito + external secrets</a:t>
            </a:r>
            <a:endParaRPr/>
          </a:p>
        </p:txBody>
      </p:sp>
      <p:sp>
        <p:nvSpPr>
          <p:cNvPr id="883892705" name=""/>
          <p:cNvSpPr>
            <a:spLocks noGrp="1"/>
          </p:cNvSpPr>
          <p:nvPr/>
        </p:nvSpPr>
        <p:spPr bwMode="auto">
          <a:xfrm>
            <a:off x="6572250" y="43053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•</a:t>
            </a:r>
            <a:endParaRPr/>
          </a:p>
        </p:txBody>
      </p:sp>
      <p:sp>
        <p:nvSpPr>
          <p:cNvPr id="846664237" name=""/>
          <p:cNvSpPr>
            <a:spLocks noGrp="1"/>
          </p:cNvSpPr>
          <p:nvPr/>
        </p:nvSpPr>
        <p:spPr bwMode="auto">
          <a:xfrm>
            <a:off x="6877050" y="4305300"/>
            <a:ext cx="41719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Structured audit logging</a:t>
            </a:r>
            <a:endParaRPr/>
          </a:p>
        </p:txBody>
      </p:sp>
      <p:sp>
        <p:nvSpPr>
          <p:cNvPr id="77576690" name=""/>
          <p:cNvSpPr>
            <a:spLocks noGrp="1"/>
          </p:cNvSpPr>
          <p:nvPr/>
        </p:nvSpPr>
        <p:spPr bwMode="auto">
          <a:xfrm>
            <a:off x="552450" y="571500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4B5563"/>
                </a:solidFill>
              </a:defRPr>
            </a:pPr>
            <a:r>
              <a:rPr sz="1750" b="0">
                <a:solidFill>
                  <a:srgbClr val="4B5563"/>
                </a:solidFill>
              </a:rPr>
              <a:t>Next hardening: HTTPS/HSTS everywhere, secure httpOnly cookies, complete bcrypt migration, CloudWatch retention and alerts.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799755" name=""/>
          <p:cNvSpPr>
            <a:spLocks noGrp="1"/>
          </p:cNvSpPr>
          <p:nvPr/>
        </p:nvSpPr>
        <p:spPr bwMode="auto">
          <a:xfrm>
            <a:off x="552450" y="3238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E85D2A"/>
                </a:solidFill>
              </a:defRPr>
            </a:pPr>
            <a:r>
              <a:rPr sz="1150" b="1">
                <a:solidFill>
                  <a:srgbClr val="E85D2A"/>
                </a:solidFill>
              </a:rPr>
              <a:t>Close</a:t>
            </a:r>
            <a:endParaRPr/>
          </a:p>
        </p:txBody>
      </p:sp>
      <p:sp>
        <p:nvSpPr>
          <p:cNvPr id="1698359004" name=""/>
          <p:cNvSpPr>
            <a:spLocks noGrp="1"/>
          </p:cNvSpPr>
          <p:nvPr/>
        </p:nvSpPr>
        <p:spPr bwMode="auto">
          <a:xfrm>
            <a:off x="11210925" y="323850"/>
            <a:ext cx="428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150" b="0">
                <a:solidFill>
                  <a:srgbClr val="4B5563"/>
                </a:solidFill>
              </a:defRPr>
            </a:pPr>
            <a:r>
              <a:rPr sz="1150" b="0">
                <a:solidFill>
                  <a:srgbClr val="4B5563"/>
                </a:solidFill>
              </a:rPr>
              <a:t>30</a:t>
            </a:r>
            <a:endParaRPr/>
          </a:p>
        </p:txBody>
      </p:sp>
      <p:sp>
        <p:nvSpPr>
          <p:cNvPr id="1015100360" name=""/>
          <p:cNvSpPr>
            <a:spLocks noGrp="1"/>
          </p:cNvSpPr>
          <p:nvPr/>
        </p:nvSpPr>
        <p:spPr bwMode="auto">
          <a:xfrm>
            <a:off x="552450" y="781050"/>
            <a:ext cx="11087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B0F19"/>
                </a:solidFill>
              </a:defRPr>
            </a:pPr>
            <a:r>
              <a:rPr sz="2850" b="1">
                <a:solidFill>
                  <a:srgbClr val="0B0F19"/>
                </a:solidFill>
              </a:rPr>
              <a:t>Team reflections: what we learnt</a:t>
            </a:r>
            <a:endParaRPr/>
          </a:p>
        </p:txBody>
      </p:sp>
      <p:sp>
        <p:nvSpPr>
          <p:cNvPr id="113227691" name=""/>
          <p:cNvSpPr>
            <a:spLocks noGrp="1"/>
          </p:cNvSpPr>
          <p:nvPr/>
        </p:nvSpPr>
        <p:spPr bwMode="auto">
          <a:xfrm>
            <a:off x="552450" y="1524000"/>
            <a:ext cx="11087100" cy="9525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</p:sp>
      <p:sp>
        <p:nvSpPr>
          <p:cNvPr id="226384335" name=""/>
          <p:cNvSpPr>
            <a:spLocks noGrp="1"/>
          </p:cNvSpPr>
          <p:nvPr/>
        </p:nvSpPr>
        <p:spPr bwMode="auto">
          <a:xfrm>
            <a:off x="552450" y="2047875"/>
            <a:ext cx="4953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15420967" name=""/>
          <p:cNvSpPr>
            <a:spLocks noGrp="1"/>
          </p:cNvSpPr>
          <p:nvPr/>
        </p:nvSpPr>
        <p:spPr bwMode="auto">
          <a:xfrm>
            <a:off x="762000" y="2219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Trust the server</a:t>
            </a:r>
            <a:endParaRPr/>
          </a:p>
        </p:txBody>
      </p:sp>
      <p:sp>
        <p:nvSpPr>
          <p:cNvPr id="1066130762" name=""/>
          <p:cNvSpPr>
            <a:spLocks noGrp="1"/>
          </p:cNvSpPr>
          <p:nvPr/>
        </p:nvSpPr>
        <p:spPr bwMode="auto">
          <a:xfrm>
            <a:off x="762000" y="2600325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111827"/>
                </a:solidFill>
              </a:defRPr>
            </a:pPr>
            <a:r>
              <a:rPr sz="1450" b="0">
                <a:solidFill>
                  <a:srgbClr val="111827"/>
                </a:solidFill>
              </a:rPr>
              <a:t>Frontend hiding is not access control; every sensitive action needs backend enforcement.</a:t>
            </a:r>
            <a:endParaRPr/>
          </a:p>
        </p:txBody>
      </p:sp>
      <p:sp>
        <p:nvSpPr>
          <p:cNvPr id="1024134134" name=""/>
          <p:cNvSpPr>
            <a:spLocks noGrp="1"/>
          </p:cNvSpPr>
          <p:nvPr/>
        </p:nvSpPr>
        <p:spPr bwMode="auto">
          <a:xfrm>
            <a:off x="6172200" y="2047875"/>
            <a:ext cx="4953000" cy="1143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67707523" name=""/>
          <p:cNvSpPr>
            <a:spLocks noGrp="1"/>
          </p:cNvSpPr>
          <p:nvPr/>
        </p:nvSpPr>
        <p:spPr bwMode="auto">
          <a:xfrm>
            <a:off x="6381750" y="2219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Secure coding is systematic</a:t>
            </a:r>
            <a:endParaRPr/>
          </a:p>
        </p:txBody>
      </p:sp>
      <p:sp>
        <p:nvSpPr>
          <p:cNvPr id="1150272892" name=""/>
          <p:cNvSpPr>
            <a:spLocks noGrp="1"/>
          </p:cNvSpPr>
          <p:nvPr/>
        </p:nvSpPr>
        <p:spPr bwMode="auto">
          <a:xfrm>
            <a:off x="6381750" y="2600325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111827"/>
                </a:solidFill>
              </a:defRPr>
            </a:pPr>
            <a:r>
              <a:rPr sz="1450" b="0">
                <a:solidFill>
                  <a:srgbClr val="111827"/>
                </a:solidFill>
              </a:rPr>
              <a:t>Parameterized SQL, output encoding, and input validation must be defaults, not last-minute patches.</a:t>
            </a:r>
            <a:endParaRPr/>
          </a:p>
        </p:txBody>
      </p:sp>
      <p:sp>
        <p:nvSpPr>
          <p:cNvPr id="226999810" name=""/>
          <p:cNvSpPr>
            <a:spLocks noGrp="1"/>
          </p:cNvSpPr>
          <p:nvPr/>
        </p:nvSpPr>
        <p:spPr bwMode="auto">
          <a:xfrm>
            <a:off x="552450" y="3714750"/>
            <a:ext cx="4953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2280478" name=""/>
          <p:cNvSpPr>
            <a:spLocks noGrp="1"/>
          </p:cNvSpPr>
          <p:nvPr/>
        </p:nvSpPr>
        <p:spPr bwMode="auto">
          <a:xfrm>
            <a:off x="762000" y="38862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Auth is a design decision</a:t>
            </a:r>
            <a:endParaRPr/>
          </a:p>
        </p:txBody>
      </p:sp>
      <p:sp>
        <p:nvSpPr>
          <p:cNvPr id="878943658" name=""/>
          <p:cNvSpPr>
            <a:spLocks noGrp="1"/>
          </p:cNvSpPr>
          <p:nvPr/>
        </p:nvSpPr>
        <p:spPr bwMode="auto">
          <a:xfrm>
            <a:off x="762000" y="42672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111827"/>
                </a:solidFill>
              </a:defRPr>
            </a:pPr>
            <a:r>
              <a:rPr sz="1450" b="0">
                <a:solidFill>
                  <a:srgbClr val="111827"/>
                </a:solidFill>
              </a:rPr>
              <a:t>Passwords, tokens, JWT secrets, and roles need a coherent architecture, not isolated fixes.</a:t>
            </a:r>
            <a:endParaRPr/>
          </a:p>
        </p:txBody>
      </p:sp>
      <p:sp>
        <p:nvSpPr>
          <p:cNvPr id="335809163" name=""/>
          <p:cNvSpPr>
            <a:spLocks noGrp="1"/>
          </p:cNvSpPr>
          <p:nvPr/>
        </p:nvSpPr>
        <p:spPr bwMode="auto">
          <a:xfrm>
            <a:off x="6172200" y="3714750"/>
            <a:ext cx="4953000" cy="114300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6791370" name=""/>
          <p:cNvSpPr>
            <a:spLocks noGrp="1"/>
          </p:cNvSpPr>
          <p:nvPr/>
        </p:nvSpPr>
        <p:spPr bwMode="auto">
          <a:xfrm>
            <a:off x="6381750" y="38862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E85D2A"/>
                </a:solidFill>
              </a:defRPr>
            </a:pPr>
            <a:r>
              <a:rPr sz="1800" b="1">
                <a:solidFill>
                  <a:srgbClr val="E85D2A"/>
                </a:solidFill>
              </a:rPr>
              <a:t>Logs are security evidence</a:t>
            </a:r>
            <a:endParaRPr/>
          </a:p>
        </p:txBody>
      </p:sp>
      <p:sp>
        <p:nvSpPr>
          <p:cNvPr id="2090046924" name=""/>
          <p:cNvSpPr>
            <a:spLocks noGrp="1"/>
          </p:cNvSpPr>
          <p:nvPr/>
        </p:nvSpPr>
        <p:spPr bwMode="auto">
          <a:xfrm>
            <a:off x="6381750" y="4267200"/>
            <a:ext cx="419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50" b="0">
                <a:solidFill>
                  <a:srgbClr val="111827"/>
                </a:solidFill>
              </a:defRPr>
            </a:pPr>
            <a:r>
              <a:rPr sz="1450" b="0">
                <a:solidFill>
                  <a:srgbClr val="111827"/>
                </a:solidFill>
              </a:rPr>
              <a:t>If attacks are not logged safely and durably, the team cannot investigate or prove impact.</a:t>
            </a:r>
            <a:endParaRPr/>
          </a:p>
        </p:txBody>
      </p:sp>
      <p:sp>
        <p:nvSpPr>
          <p:cNvPr id="1752125416" name=""/>
          <p:cNvSpPr>
            <a:spLocks noGrp="1"/>
          </p:cNvSpPr>
          <p:nvPr/>
        </p:nvSpPr>
        <p:spPr bwMode="auto">
          <a:xfrm>
            <a:off x="552450" y="571500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As a team, the biggest takeaway is that security is not one feature. It is the way data, identity, code, deployment, and monitoring connect.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32</Slides>
  <Notes>32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2026-06-29T06:35:14Z</dcterms:modified>
</cp:coreProperties>
</file>